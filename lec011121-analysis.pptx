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312" r:id="rId5"/>
    <p:sldId id="259" r:id="rId6"/>
    <p:sldId id="260" r:id="rId7"/>
    <p:sldId id="261" r:id="rId8"/>
    <p:sldId id="262" r:id="rId9"/>
    <p:sldId id="286" r:id="rId10"/>
    <p:sldId id="308" r:id="rId11"/>
    <p:sldId id="296" r:id="rId12"/>
    <p:sldId id="307" r:id="rId13"/>
    <p:sldId id="303" r:id="rId14"/>
    <p:sldId id="309" r:id="rId15"/>
    <p:sldId id="306" r:id="rId16"/>
    <p:sldId id="311" r:id="rId17"/>
    <p:sldId id="310" r:id="rId18"/>
  </p:sldIdLst>
  <p:sldSz cx="9144000" cy="6858000" type="screen4x3"/>
  <p:notesSz cx="6858000" cy="9144000"/>
  <p:defaultTextStyle>
    <a:lvl1pPr marL="40639" marR="40639">
      <a:defRPr sz="2400">
        <a:uFill>
          <a:solidFill/>
        </a:uFill>
        <a:latin typeface="+mn-lt"/>
        <a:ea typeface="+mn-ea"/>
        <a:cs typeface="+mn-cs"/>
        <a:sym typeface="Arial"/>
      </a:defRPr>
    </a:lvl1pPr>
    <a:lvl2pPr marL="40639" marR="40639" indent="342900">
      <a:defRPr sz="2400">
        <a:uFill>
          <a:solidFill/>
        </a:uFill>
        <a:latin typeface="+mn-lt"/>
        <a:ea typeface="+mn-ea"/>
        <a:cs typeface="+mn-cs"/>
        <a:sym typeface="Arial"/>
      </a:defRPr>
    </a:lvl2pPr>
    <a:lvl3pPr marL="40639" marR="40639" indent="685800">
      <a:defRPr sz="2400">
        <a:uFill>
          <a:solidFill/>
        </a:uFill>
        <a:latin typeface="+mn-lt"/>
        <a:ea typeface="+mn-ea"/>
        <a:cs typeface="+mn-cs"/>
        <a:sym typeface="Arial"/>
      </a:defRPr>
    </a:lvl3pPr>
    <a:lvl4pPr marL="40639" marR="40639" indent="1028700">
      <a:defRPr sz="2400">
        <a:uFill>
          <a:solidFill/>
        </a:uFill>
        <a:latin typeface="+mn-lt"/>
        <a:ea typeface="+mn-ea"/>
        <a:cs typeface="+mn-cs"/>
        <a:sym typeface="Arial"/>
      </a:defRPr>
    </a:lvl4pPr>
    <a:lvl5pPr marL="40639" marR="40639" indent="1371600">
      <a:defRPr sz="2400">
        <a:uFill>
          <a:solidFill/>
        </a:uFill>
        <a:latin typeface="+mn-lt"/>
        <a:ea typeface="+mn-ea"/>
        <a:cs typeface="+mn-cs"/>
        <a:sym typeface="Arial"/>
      </a:defRPr>
    </a:lvl5pPr>
    <a:lvl6pPr marL="40639" marR="40639" indent="1714500">
      <a:defRPr sz="2400">
        <a:uFill>
          <a:solidFill/>
        </a:uFill>
        <a:latin typeface="+mn-lt"/>
        <a:ea typeface="+mn-ea"/>
        <a:cs typeface="+mn-cs"/>
        <a:sym typeface="Arial"/>
      </a:defRPr>
    </a:lvl6pPr>
    <a:lvl7pPr marL="40639" marR="40639" indent="2057400">
      <a:defRPr sz="2400">
        <a:uFill>
          <a:solidFill/>
        </a:uFill>
        <a:latin typeface="+mn-lt"/>
        <a:ea typeface="+mn-ea"/>
        <a:cs typeface="+mn-cs"/>
        <a:sym typeface="Arial"/>
      </a:defRPr>
    </a:lvl7pPr>
    <a:lvl8pPr marL="40639" marR="40639" indent="2400300">
      <a:defRPr sz="2400">
        <a:uFill>
          <a:solidFill/>
        </a:uFill>
        <a:latin typeface="+mn-lt"/>
        <a:ea typeface="+mn-ea"/>
        <a:cs typeface="+mn-cs"/>
        <a:sym typeface="Arial"/>
      </a:defRPr>
    </a:lvl8pPr>
    <a:lvl9pPr marL="40639" marR="40639" indent="2743200">
      <a:defRPr sz="2400">
        <a:uFill>
          <a:solidFill/>
        </a:uFill>
        <a:latin typeface="+mn-lt"/>
        <a:ea typeface="+mn-ea"/>
        <a:cs typeface="+mn-cs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8F44A2F1-9E1F-4B54-A3A2-5F16C0AD49E2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C5C7C9">
              <a:alpha val="30000"/>
            </a:srgbClr>
          </a:solidFill>
        </a:fill>
      </a:tcStyle>
    </a:band2H>
    <a:firstCol>
      <a:tcTxStyle b="off" i="off">
        <a:fontRef idx="minor">
          <a:srgbClr val="000000"/>
        </a:fontRef>
        <a:srgbClr val="000000"/>
      </a:tcTxStyle>
      <a:tcStyle>
        <a:tcBdr>
          <a:left>
            <a:ln w="28575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28575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lastRow>
    <a:fir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8575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firstRow>
  </a:tblStyle>
  <a:tblStyle styleId="{C7B018BB-80A7-4F77-B60F-C8B233D01FF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00882B"/>
          </a:solidFill>
        </a:fill>
      </a:tcStyle>
    </a:firstRow>
  </a:tblStyle>
  <a:tblStyle styleId="{EEE7283C-3CF3-47DC-8721-378D4A62B22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4C3C2611-4C71-4FC5-86AE-919BDF0F9419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365C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4"/>
    <p:restoredTop sz="90339"/>
  </p:normalViewPr>
  <p:slideViewPr>
    <p:cSldViewPr snapToGrid="0">
      <p:cViewPr varScale="1">
        <p:scale>
          <a:sx n="105" d="100"/>
          <a:sy n="105" d="100"/>
        </p:scale>
        <p:origin x="156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0" name="Shape 1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584200">
      <a:defRPr sz="2200">
        <a:latin typeface="Lucida Grande"/>
        <a:ea typeface="Lucida Grande"/>
        <a:cs typeface="Lucida Grande"/>
        <a:sym typeface="Lucida Grande"/>
      </a:defRPr>
    </a:lvl1pPr>
    <a:lvl2pPr indent="228600" defTabSz="584200">
      <a:defRPr sz="2200">
        <a:latin typeface="Lucida Grande"/>
        <a:ea typeface="Lucida Grande"/>
        <a:cs typeface="Lucida Grande"/>
        <a:sym typeface="Lucida Grande"/>
      </a:defRPr>
    </a:lvl2pPr>
    <a:lvl3pPr indent="457200" defTabSz="584200">
      <a:defRPr sz="2200">
        <a:latin typeface="Lucida Grande"/>
        <a:ea typeface="Lucida Grande"/>
        <a:cs typeface="Lucida Grande"/>
        <a:sym typeface="Lucida Grande"/>
      </a:defRPr>
    </a:lvl3pPr>
    <a:lvl4pPr indent="685800" defTabSz="584200">
      <a:defRPr sz="2200">
        <a:latin typeface="Lucida Grande"/>
        <a:ea typeface="Lucida Grande"/>
        <a:cs typeface="Lucida Grande"/>
        <a:sym typeface="Lucida Grande"/>
      </a:defRPr>
    </a:lvl4pPr>
    <a:lvl5pPr indent="914400" defTabSz="584200">
      <a:defRPr sz="2200">
        <a:latin typeface="Lucida Grande"/>
        <a:ea typeface="Lucida Grande"/>
        <a:cs typeface="Lucida Grande"/>
        <a:sym typeface="Lucida Grande"/>
      </a:defRPr>
    </a:lvl5pPr>
    <a:lvl6pPr indent="1143000" defTabSz="584200">
      <a:defRPr sz="2200">
        <a:latin typeface="Lucida Grande"/>
        <a:ea typeface="Lucida Grande"/>
        <a:cs typeface="Lucida Grande"/>
        <a:sym typeface="Lucida Grande"/>
      </a:defRPr>
    </a:lvl6pPr>
    <a:lvl7pPr indent="1371600" defTabSz="584200">
      <a:defRPr sz="2200">
        <a:latin typeface="Lucida Grande"/>
        <a:ea typeface="Lucida Grande"/>
        <a:cs typeface="Lucida Grande"/>
        <a:sym typeface="Lucida Grande"/>
      </a:defRPr>
    </a:lvl7pPr>
    <a:lvl8pPr indent="1600200" defTabSz="584200">
      <a:defRPr sz="2200">
        <a:latin typeface="Lucida Grande"/>
        <a:ea typeface="Lucida Grande"/>
        <a:cs typeface="Lucida Grande"/>
        <a:sym typeface="Lucida Grande"/>
      </a:defRPr>
    </a:lvl8pPr>
    <a:lvl9pPr indent="1828800" defTabSz="584200">
      <a:defRPr sz="2200">
        <a:latin typeface="Lucida Grande"/>
        <a:ea typeface="Lucida Grande"/>
        <a:cs typeface="Lucida Grande"/>
        <a:sym typeface="Lucida Grand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8087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which TA will be in which session</a:t>
            </a:r>
          </a:p>
          <a:p>
            <a:r>
              <a:rPr lang="en-US" dirty="0"/>
              <a:t>Add Emily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22732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21" name="Shape 2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 defTabSz="457200">
              <a:defRPr sz="1800"/>
            </a:pPr>
            <a:r>
              <a:rPr sz="1200" dirty="0">
                <a:latin typeface="Helvetica"/>
                <a:ea typeface="Helvetica"/>
                <a:cs typeface="Helvetica"/>
                <a:sym typeface="Helvetica"/>
              </a:rPr>
              <a:t>Make sure to mention that sections are </a:t>
            </a:r>
            <a:r>
              <a:rPr lang="en-US" sz="1200" dirty="0">
                <a:latin typeface="Helvetica"/>
                <a:ea typeface="Helvetica"/>
                <a:cs typeface="Helvetica"/>
                <a:sym typeface="Helvetica"/>
              </a:rPr>
              <a:t>NOT on for THIS week.</a:t>
            </a:r>
            <a:endParaRPr sz="1200" dirty="0">
              <a:latin typeface="Helvetica"/>
              <a:ea typeface="Helvetica"/>
              <a:cs typeface="Helvetica"/>
              <a:sym typeface="Helvetica"/>
            </a:endParaRPr>
          </a:p>
          <a:p>
            <a:pPr lvl="0" defTabSz="457200">
              <a:defRPr sz="1800"/>
            </a:pPr>
            <a:r>
              <a:rPr sz="1200" dirty="0">
                <a:latin typeface="Helvetica"/>
                <a:ea typeface="Helvetica"/>
                <a:cs typeface="Helvetica"/>
                <a:sym typeface="Helvetica"/>
              </a:rPr>
              <a:t>You are responsible for this information. </a:t>
            </a:r>
            <a:endParaRPr lang="en-US" sz="1200" dirty="0">
              <a:latin typeface="Helvetica"/>
              <a:ea typeface="Helvetica"/>
              <a:cs typeface="Helvetica"/>
              <a:sym typeface="Helvetica"/>
            </a:endParaRPr>
          </a:p>
          <a:p>
            <a:pPr lvl="0" defTabSz="457200">
              <a:defRPr sz="1800"/>
            </a:pPr>
            <a:endParaRPr lang="en-US" sz="1200" dirty="0">
              <a:latin typeface="Helvetica"/>
              <a:ea typeface="Helvetica"/>
              <a:cs typeface="Helvetica"/>
              <a:sym typeface="Helvetica"/>
            </a:endParaRPr>
          </a:p>
          <a:p>
            <a:pPr lvl="0" defTabSz="457200">
              <a:defRPr sz="1800"/>
            </a:pPr>
            <a:r>
              <a:rPr lang="en-US" sz="1200" dirty="0">
                <a:latin typeface="Helvetica"/>
                <a:ea typeface="Helvetica"/>
                <a:cs typeface="Helvetica"/>
                <a:sym typeface="Helvetica"/>
              </a:rPr>
              <a:t>BE VERY BRIEF</a:t>
            </a:r>
          </a:p>
          <a:p>
            <a:pPr lvl="0" defTabSz="457200">
              <a:defRPr sz="1800"/>
            </a:pPr>
            <a:endParaRPr lang="en-US" sz="1200" dirty="0">
              <a:latin typeface="Helvetica"/>
              <a:ea typeface="Helvetica"/>
              <a:cs typeface="Helvetica"/>
              <a:sym typeface="Helvetica"/>
            </a:endParaRPr>
          </a:p>
          <a:p>
            <a:pPr lvl="0" defTabSz="457200">
              <a:defRPr sz="1800"/>
            </a:pPr>
            <a:endParaRPr sz="1200" dirty="0">
              <a:latin typeface="Helvetica"/>
              <a:ea typeface="Helvetica"/>
              <a:cs typeface="Helvetica"/>
              <a:sym typeface="Helvetica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21" name="Shape 2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pPr>
            <a:r>
              <a:rPr lang="en-US" sz="1200" dirty="0">
                <a:latin typeface="Helvetica"/>
                <a:ea typeface="Helvetica"/>
                <a:cs typeface="Helvetica"/>
                <a:sym typeface="Helvetica"/>
              </a:rPr>
              <a:t>Mark flexibility and variability, Circle breaks</a:t>
            </a:r>
          </a:p>
          <a:p>
            <a:pPr lvl="0" defTabSz="457200">
              <a:defRPr sz="1800"/>
            </a:pPr>
            <a:endParaRPr sz="1200" dirty="0">
              <a:latin typeface="Helvetica"/>
              <a:ea typeface="Helvetica"/>
              <a:cs typeface="Helvetica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7670406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2479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DATA at the top and point out that data can really be anything – including for example, programs themselves</a:t>
            </a:r>
          </a:p>
          <a:p>
            <a:endParaRPr lang="en-US" dirty="0"/>
          </a:p>
          <a:p>
            <a:r>
              <a:rPr lang="en-US" dirty="0"/>
              <a:t>WRITE:</a:t>
            </a:r>
          </a:p>
          <a:p>
            <a:r>
              <a:rPr lang="en-US" dirty="0"/>
              <a:t>Design correct and efficient programmatic solutions for dealing with data.</a:t>
            </a:r>
          </a:p>
          <a:p>
            <a:r>
              <a:rPr lang="en-US" dirty="0"/>
              <a:t>Sometimes primary approach will be	Algorithm</a:t>
            </a:r>
          </a:p>
          <a:p>
            <a:r>
              <a:rPr lang="en-US" dirty="0"/>
              <a:t>Other times 	Arrangement</a:t>
            </a:r>
          </a:p>
          <a:p>
            <a:endParaRPr lang="en-US" dirty="0"/>
          </a:p>
          <a:p>
            <a:r>
              <a:rPr lang="en-US" dirty="0"/>
              <a:t>Correct and Efficient – what does this mean, and how do we measure?</a:t>
            </a:r>
          </a:p>
          <a:p>
            <a:r>
              <a:rPr lang="en-US" dirty="0"/>
              <a:t>	Analysis</a:t>
            </a:r>
          </a:p>
          <a:p>
            <a:endParaRPr lang="en-US" dirty="0"/>
          </a:p>
          <a:p>
            <a:r>
              <a:rPr lang="en-US" dirty="0"/>
              <a:t>Learn classic algorithms and structures</a:t>
            </a:r>
          </a:p>
          <a:p>
            <a:r>
              <a:rPr lang="en-US" dirty="0"/>
              <a:t>Learn a little C++</a:t>
            </a:r>
          </a:p>
          <a:p>
            <a:endParaRPr lang="en-US" dirty="0"/>
          </a:p>
          <a:p>
            <a:r>
              <a:rPr lang="en-US" dirty="0"/>
              <a:t>______________________________________________________</a:t>
            </a:r>
          </a:p>
          <a:p>
            <a:r>
              <a:rPr lang="en-US" dirty="0"/>
              <a:t>Learn some  C++ too!</a:t>
            </a:r>
          </a:p>
          <a:p>
            <a:r>
              <a:rPr lang="en-US" sz="2200" dirty="0">
                <a:effectLst/>
                <a:latin typeface="Lucida Grande"/>
                <a:ea typeface="Lucida Grande"/>
                <a:cs typeface="Lucida Grande"/>
                <a:sym typeface="Lucida Grande"/>
              </a:rPr>
              <a:t>All programs manipulate data</a:t>
            </a:r>
            <a:br>
              <a:rPr lang="en-US" sz="2200" dirty="0">
                <a:effectLst/>
                <a:latin typeface="Lucida Grande"/>
                <a:ea typeface="Lucida Grande"/>
                <a:cs typeface="Lucida Grande"/>
                <a:sym typeface="Lucida Grande"/>
              </a:rPr>
            </a:br>
            <a:r>
              <a:rPr lang="en-US" sz="2200" dirty="0">
                <a:effectLst/>
                <a:latin typeface="Lucida Grande"/>
                <a:ea typeface="Lucida Grande"/>
                <a:cs typeface="Lucida Grande"/>
                <a:sym typeface="Lucida Grande"/>
              </a:rPr>
              <a:t>􏰀 programs process, store, display, gather data</a:t>
            </a:r>
            <a:br>
              <a:rPr lang="en-US" sz="2200" dirty="0">
                <a:effectLst/>
                <a:latin typeface="Lucida Grande"/>
                <a:ea typeface="Lucida Grande"/>
                <a:cs typeface="Lucida Grande"/>
                <a:sym typeface="Lucida Grande"/>
              </a:rPr>
            </a:br>
            <a:r>
              <a:rPr lang="en-US" sz="2200" dirty="0">
                <a:effectLst/>
                <a:latin typeface="Lucida Grande"/>
                <a:ea typeface="Lucida Grande"/>
                <a:cs typeface="Lucida Grande"/>
                <a:sym typeface="Lucida Grande"/>
              </a:rPr>
              <a:t>􏰀 data can be information, numbers, images, sound </a:t>
            </a:r>
            <a:endParaRPr lang="en-US" dirty="0">
              <a:effectLst/>
            </a:endParaRPr>
          </a:p>
          <a:p>
            <a:r>
              <a:rPr lang="en-US" sz="2200" dirty="0">
                <a:effectLst/>
                <a:latin typeface="Lucida Grande"/>
                <a:ea typeface="Lucida Grande"/>
                <a:cs typeface="Lucida Grande"/>
                <a:sym typeface="Lucida Grande"/>
              </a:rPr>
              <a:t>􏰀 The programmer must decide how to store and manipulate data </a:t>
            </a:r>
            <a:endParaRPr lang="en-US" dirty="0">
              <a:effectLst/>
            </a:endParaRPr>
          </a:p>
          <a:p>
            <a:r>
              <a:rPr lang="en-US" sz="2200" dirty="0">
                <a:effectLst/>
                <a:latin typeface="Lucida Grande"/>
                <a:ea typeface="Lucida Grande"/>
                <a:cs typeface="Lucida Grande"/>
                <a:sym typeface="Lucida Grande"/>
              </a:rPr>
              <a:t>􏰀 This choice influences the program in many ways </a:t>
            </a:r>
            <a:endParaRPr lang="en-US" dirty="0">
              <a:effectLst/>
            </a:endParaRPr>
          </a:p>
          <a:p>
            <a:r>
              <a:rPr lang="en-US" sz="2200" dirty="0">
                <a:effectLst/>
                <a:latin typeface="Lucida Grande"/>
                <a:ea typeface="Lucida Grande"/>
                <a:cs typeface="Lucida Grande"/>
                <a:sym typeface="Lucida Grande"/>
              </a:rPr>
              <a:t>􏰀  execution speed </a:t>
            </a:r>
            <a:endParaRPr lang="en-US" dirty="0">
              <a:effectLst/>
            </a:endParaRPr>
          </a:p>
          <a:p>
            <a:r>
              <a:rPr lang="en-US" sz="2200" dirty="0">
                <a:effectLst/>
                <a:latin typeface="Lucida Grande"/>
                <a:ea typeface="Lucida Grande"/>
                <a:cs typeface="Lucida Grande"/>
                <a:sym typeface="Lucida Grande"/>
              </a:rPr>
              <a:t>􏰀  memory requirements </a:t>
            </a:r>
            <a:endParaRPr lang="en-US" dirty="0">
              <a:effectLst/>
            </a:endParaRPr>
          </a:p>
          <a:p>
            <a:r>
              <a:rPr lang="en-US" sz="2200" dirty="0">
                <a:effectLst/>
                <a:latin typeface="Lucida Grande"/>
                <a:ea typeface="Lucida Grande"/>
                <a:cs typeface="Lucida Grande"/>
                <a:sym typeface="Lucida Grande"/>
              </a:rPr>
              <a:t>􏰀  maintenance (debugging, extending, etc.) </a:t>
            </a:r>
          </a:p>
          <a:p>
            <a:endParaRPr lang="en-US" dirty="0">
              <a:effectLst/>
            </a:endParaRPr>
          </a:p>
          <a:p>
            <a:r>
              <a:rPr lang="en-US" sz="2400" dirty="0">
                <a:effectLst/>
                <a:latin typeface="Lucida Grande"/>
                <a:ea typeface="Lucida Grande"/>
                <a:cs typeface="Lucida Grande"/>
                <a:sym typeface="Lucida Grande"/>
              </a:rPr>
              <a:t>Become familiar with some of the fundamental data structures and algorithms in computer science </a:t>
            </a:r>
            <a:endParaRPr lang="en-US" dirty="0">
              <a:effectLst/>
            </a:endParaRPr>
          </a:p>
          <a:p>
            <a:r>
              <a:rPr lang="en-US" sz="800" dirty="0">
                <a:effectLst/>
                <a:latin typeface="Lucida Grande"/>
                <a:ea typeface="Lucida Grande"/>
                <a:cs typeface="Lucida Grande"/>
                <a:sym typeface="Lucida Grande"/>
              </a:rPr>
              <a:t>􏰀 </a:t>
            </a:r>
            <a:r>
              <a:rPr lang="en-US" sz="1800" dirty="0">
                <a:effectLst/>
                <a:latin typeface="Lucida Grande"/>
                <a:ea typeface="Lucida Grande"/>
                <a:cs typeface="Lucida Grande"/>
                <a:sym typeface="Lucida Grande"/>
              </a:rPr>
              <a:t>Learn when to use them</a:t>
            </a:r>
            <a:br>
              <a:rPr lang="en-US" sz="1800" dirty="0">
                <a:effectLst/>
                <a:latin typeface="Lucida Grande"/>
                <a:ea typeface="Lucida Grande"/>
                <a:cs typeface="Lucida Grande"/>
                <a:sym typeface="Lucida Grande"/>
              </a:rPr>
            </a:br>
            <a:r>
              <a:rPr lang="en-US" sz="1400" dirty="0">
                <a:effectLst/>
                <a:latin typeface="Lucida Grande"/>
                <a:ea typeface="Lucida Grande"/>
                <a:cs typeface="Lucida Grande"/>
                <a:sym typeface="Lucida Grande"/>
              </a:rPr>
              <a:t>􏰀 </a:t>
            </a:r>
            <a:r>
              <a:rPr lang="en-US" sz="2400" dirty="0">
                <a:effectLst/>
                <a:latin typeface="Lucida Grande"/>
                <a:ea typeface="Lucida Grande"/>
                <a:cs typeface="Lucida Grande"/>
                <a:sym typeface="Lucida Grande"/>
              </a:rPr>
              <a:t>Improve your ability to solve problems abstractly </a:t>
            </a:r>
            <a:endParaRPr lang="en-US" dirty="0">
              <a:effectLst/>
            </a:endParaRPr>
          </a:p>
          <a:p>
            <a:r>
              <a:rPr lang="en-US" sz="800" dirty="0">
                <a:effectLst/>
                <a:latin typeface="Lucida Grande"/>
                <a:ea typeface="Lucida Grande"/>
                <a:cs typeface="Lucida Grande"/>
                <a:sym typeface="Lucida Grande"/>
              </a:rPr>
              <a:t>􏰀 </a:t>
            </a:r>
            <a:r>
              <a:rPr lang="en-US" sz="2400" dirty="0">
                <a:effectLst/>
                <a:latin typeface="Lucida Grande"/>
                <a:ea typeface="Lucida Grande"/>
                <a:cs typeface="Lucida Grande"/>
                <a:sym typeface="Lucida Grande"/>
              </a:rPr>
              <a:t>Data structures and algorithms are the building blocks </a:t>
            </a:r>
            <a:endParaRPr lang="en-US" dirty="0">
              <a:effectLst/>
            </a:endParaRPr>
          </a:p>
          <a:p>
            <a:r>
              <a:rPr lang="en-US" sz="1400" dirty="0">
                <a:effectLst/>
                <a:latin typeface="Lucida Grande"/>
                <a:ea typeface="Lucida Grande"/>
                <a:cs typeface="Lucida Grande"/>
                <a:sym typeface="Lucida Grande"/>
              </a:rPr>
              <a:t>􏰀  </a:t>
            </a:r>
            <a:r>
              <a:rPr lang="en-US" sz="2400" dirty="0">
                <a:effectLst/>
                <a:latin typeface="Lucida Grande"/>
                <a:ea typeface="Lucida Grande"/>
                <a:cs typeface="Lucida Grande"/>
                <a:sym typeface="Lucida Grande"/>
              </a:rPr>
              <a:t>Improve your ability to analyze algorithms </a:t>
            </a:r>
            <a:endParaRPr lang="en-US" dirty="0">
              <a:effectLst/>
            </a:endParaRPr>
          </a:p>
          <a:p>
            <a:pPr lvl="1"/>
            <a:r>
              <a:rPr lang="en-US" sz="800" dirty="0">
                <a:effectLst/>
                <a:latin typeface="Lucida Grande"/>
                <a:ea typeface="Lucida Grande"/>
                <a:cs typeface="Lucida Grande"/>
                <a:sym typeface="Lucida Grande"/>
              </a:rPr>
              <a:t>􏰀  </a:t>
            </a:r>
            <a:r>
              <a:rPr lang="en-US" sz="2400" dirty="0">
                <a:effectLst/>
                <a:latin typeface="Lucida Grande"/>
                <a:ea typeface="Lucida Grande"/>
                <a:cs typeface="Lucida Grande"/>
                <a:sym typeface="Lucida Grande"/>
              </a:rPr>
              <a:t>Prove correctness </a:t>
            </a:r>
            <a:endParaRPr lang="en-US" dirty="0">
              <a:effectLst/>
            </a:endParaRPr>
          </a:p>
          <a:p>
            <a:pPr lvl="1"/>
            <a:r>
              <a:rPr lang="en-US" sz="800" dirty="0">
                <a:effectLst/>
                <a:latin typeface="Lucida Grande"/>
                <a:ea typeface="Lucida Grande"/>
                <a:cs typeface="Lucida Grande"/>
                <a:sym typeface="Lucida Grande"/>
              </a:rPr>
              <a:t>􏰀  </a:t>
            </a:r>
            <a:r>
              <a:rPr lang="en-US" sz="2400" dirty="0">
                <a:effectLst/>
                <a:latin typeface="Lucida Grande"/>
                <a:ea typeface="Lucida Grande"/>
                <a:cs typeface="Lucida Grande"/>
                <a:sym typeface="Lucida Grande"/>
              </a:rPr>
              <a:t>Gauge, compare, and improve time and space complexity </a:t>
            </a:r>
            <a:endParaRPr lang="en-US" dirty="0">
              <a:effectLst/>
            </a:endParaRPr>
          </a:p>
          <a:p>
            <a:r>
              <a:rPr lang="en-US" sz="1400" dirty="0">
                <a:effectLst/>
                <a:latin typeface="Lucida Grande"/>
                <a:ea typeface="Lucida Grande"/>
                <a:cs typeface="Lucida Grande"/>
                <a:sym typeface="Lucida Grande"/>
              </a:rPr>
              <a:t>􏰀  </a:t>
            </a:r>
            <a:r>
              <a:rPr lang="en-US" sz="2400" dirty="0">
                <a:effectLst/>
                <a:latin typeface="Lucida Grande"/>
                <a:ea typeface="Lucida Grande"/>
                <a:cs typeface="Lucida Grande"/>
                <a:sym typeface="Lucida Grande"/>
              </a:rPr>
              <a:t>Become modestly skilled with C</a:t>
            </a:r>
            <a:r>
              <a:rPr lang="en-US" sz="800" dirty="0">
                <a:effectLst/>
                <a:latin typeface="Lucida Grande"/>
                <a:ea typeface="Lucida Grande"/>
                <a:cs typeface="Lucida Grande"/>
                <a:sym typeface="Lucida Grande"/>
              </a:rPr>
              <a:t>++ </a:t>
            </a:r>
            <a:r>
              <a:rPr lang="en-US" sz="2400" dirty="0">
                <a:effectLst/>
                <a:latin typeface="Lucida Grande"/>
                <a:ea typeface="Lucida Grande"/>
                <a:cs typeface="Lucida Grande"/>
                <a:sym typeface="Lucida Grande"/>
              </a:rPr>
              <a:t>and UNIX, but this is largely on your own! </a:t>
            </a:r>
          </a:p>
          <a:p>
            <a:endParaRPr lang="en-US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05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31" name="Shape 3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/>
            </a:pPr>
            <a:r>
              <a:rPr sz="1200" dirty="0"/>
              <a:t>Might be interested in more complex searches… find 5 people that KNOW </a:t>
            </a:r>
            <a:r>
              <a:rPr lang="en-US" sz="1200" dirty="0" err="1"/>
              <a:t>Aine</a:t>
            </a:r>
            <a:r>
              <a:rPr sz="1200" dirty="0"/>
              <a:t>, but who don’t know each other.</a:t>
            </a:r>
            <a:endParaRPr lang="en-US" sz="1200" dirty="0"/>
          </a:p>
          <a:p>
            <a:pPr lvl="0">
              <a:defRPr sz="1800"/>
            </a:pPr>
            <a:endParaRPr lang="en-US" sz="1200" dirty="0"/>
          </a:p>
          <a:p>
            <a:pPr lvl="0">
              <a:defRPr sz="1800"/>
            </a:pPr>
            <a:r>
              <a:rPr lang="en-US" sz="1200" dirty="0"/>
              <a:t>Algorithm – A sequence of steps to produce a solution to a problem, given a set of inputs</a:t>
            </a:r>
          </a:p>
          <a:p>
            <a:pPr lvl="0">
              <a:defRPr sz="1800"/>
            </a:pPr>
            <a:r>
              <a:rPr lang="en-US" sz="1200" dirty="0"/>
              <a:t>What’s an algorithm for finding someone in this scenario?</a:t>
            </a:r>
          </a:p>
          <a:p>
            <a:pPr lvl="0">
              <a:defRPr sz="1800"/>
            </a:pPr>
            <a:r>
              <a:rPr lang="en-US" sz="1200" dirty="0"/>
              <a:t>Broadcast, call her, ask someone and they tell two people …</a:t>
            </a:r>
          </a:p>
          <a:p>
            <a:pPr lvl="0">
              <a:defRPr sz="1800"/>
            </a:pPr>
            <a:endParaRPr lang="en-US" sz="1200" dirty="0"/>
          </a:p>
          <a:p>
            <a:pPr lvl="0">
              <a:defRPr sz="1800"/>
            </a:pPr>
            <a:r>
              <a:rPr lang="en-US" sz="1200" dirty="0"/>
              <a:t>The only mechanism that would really work -- </a:t>
            </a:r>
          </a:p>
          <a:p>
            <a:pPr lvl="0">
              <a:defRPr sz="1800"/>
            </a:pPr>
            <a:endParaRPr sz="120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36" name="Shape 3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/>
            </a:pPr>
            <a:r>
              <a:rPr sz="1200" dirty="0"/>
              <a:t>Just another metaphor for what we’ll do here.</a:t>
            </a:r>
            <a:endParaRPr lang="en-US" sz="1200" dirty="0"/>
          </a:p>
          <a:p>
            <a:pPr lvl="0">
              <a:defRPr sz="1800"/>
            </a:pPr>
            <a:r>
              <a:rPr lang="en-US" sz="1200" dirty="0"/>
              <a:t>Data structures – how we arrange the data in memory can have a big effect on how we write our algorithms.</a:t>
            </a:r>
          </a:p>
          <a:p>
            <a:pPr lvl="0">
              <a:defRPr sz="1800"/>
            </a:pPr>
            <a:r>
              <a:rPr lang="en-US" sz="1200" dirty="0"/>
              <a:t>poll</a:t>
            </a:r>
            <a:endParaRPr sz="1200" dirty="0"/>
          </a:p>
        </p:txBody>
      </p:sp>
    </p:spTree>
    <p:extLst>
      <p:ext uri="{BB962C8B-B14F-4D97-AF65-F5344CB8AC3E}">
        <p14:creationId xmlns:p14="http://schemas.microsoft.com/office/powerpoint/2010/main" val="13106750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584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badi MT Condensed Light" charset="0"/>
                <a:ea typeface="Abadi MT Condensed Light" charset="0"/>
                <a:cs typeface="Abadi MT Condensed Light" charset="0"/>
              </a:rPr>
              <a:t>And algorithms.</a:t>
            </a:r>
          </a:p>
          <a:p>
            <a:pPr marL="0" marR="0" lvl="0" indent="0" defTabSz="584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latin typeface="Abadi MT Condensed Light" charset="0"/>
              <a:ea typeface="Abadi MT Condensed Light" charset="0"/>
              <a:cs typeface="Abadi MT Condensed Light" charset="0"/>
            </a:endParaRPr>
          </a:p>
          <a:p>
            <a:pPr marL="0" marR="0" lvl="0" indent="0" defTabSz="584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badi MT Condensed Light" charset="0"/>
                <a:ea typeface="Abadi MT Condensed Light" charset="0"/>
                <a:cs typeface="Abadi MT Condensed Light" charset="0"/>
              </a:rPr>
              <a:t>Value is 0 if they aren’t correct actually not true </a:t>
            </a:r>
            <a:r>
              <a:rPr lang="en-US" dirty="0">
                <a:latin typeface="Abadi MT Condensed Light" charset="0"/>
                <a:ea typeface="Abadi MT Condensed Light" charset="0"/>
                <a:cs typeface="Abadi MT Condensed Light" charset="0"/>
                <a:sym typeface="Wingdings" pitchFamily="2" charset="2"/>
              </a:rPr>
              <a:t> depends how far from correct they can promise to be… (PAC)</a:t>
            </a:r>
            <a:endParaRPr lang="en-US" dirty="0">
              <a:latin typeface="Abadi MT Condensed Light" charset="0"/>
              <a:ea typeface="Abadi MT Condensed Light" charset="0"/>
              <a:cs typeface="Abadi MT Condensed Light" charset="0"/>
            </a:endParaRPr>
          </a:p>
          <a:p>
            <a:r>
              <a:rPr lang="en-US" dirty="0"/>
              <a:t>We focus on time for the moment.</a:t>
            </a:r>
          </a:p>
          <a:p>
            <a:r>
              <a:rPr lang="en-US" dirty="0"/>
              <a:t>T: Z0 -&gt; R0</a:t>
            </a:r>
          </a:p>
          <a:p>
            <a:r>
              <a:rPr lang="en-US" dirty="0"/>
              <a:t>What’s n?</a:t>
            </a:r>
          </a:p>
          <a:p>
            <a:r>
              <a:rPr lang="en-US" dirty="0"/>
              <a:t>For linear search</a:t>
            </a:r>
            <a:r>
              <a:rPr lang="en-US" baseline="0" dirty="0"/>
              <a:t> for </a:t>
            </a:r>
            <a:r>
              <a:rPr lang="en-US" baseline="0" dirty="0" err="1"/>
              <a:t>Aine</a:t>
            </a:r>
            <a:r>
              <a:rPr lang="mr-IN" baseline="0" dirty="0"/>
              <a:t>–</a:t>
            </a:r>
            <a:r>
              <a:rPr lang="en-US" baseline="0" dirty="0"/>
              <a:t> T(n) = 5 + 2n or T(n) = 3n, n&gt;=0.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9582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Pull out a few of these for discussion.</a:t>
            </a:r>
          </a:p>
          <a:p>
            <a:endParaRPr lang="en-US" dirty="0"/>
          </a:p>
          <a:p>
            <a:r>
              <a:rPr lang="en-US" dirty="0"/>
              <a:t>Put a line showing which of the executions you’d be willing to wait for…</a:t>
            </a:r>
          </a:p>
          <a:p>
            <a:endParaRPr lang="en-US" dirty="0"/>
          </a:p>
          <a:p>
            <a:r>
              <a:rPr lang="en-US" dirty="0"/>
              <a:t>Here’s the kicker </a:t>
            </a:r>
            <a:r>
              <a:rPr lang="mr-IN" dirty="0"/>
              <a:t>–</a:t>
            </a:r>
            <a:r>
              <a:rPr lang="en-US" dirty="0"/>
              <a:t> 10^4</a:t>
            </a:r>
            <a:r>
              <a:rPr lang="en-US" baseline="0" dirty="0"/>
              <a:t> sec = 2.8hr, 10^18 sec = 30b years.</a:t>
            </a:r>
          </a:p>
          <a:p>
            <a:endParaRPr lang="en-US" baseline="0" dirty="0"/>
          </a:p>
          <a:p>
            <a:r>
              <a:rPr lang="en-US" baseline="0" dirty="0"/>
              <a:t>Why does it matter?</a:t>
            </a:r>
          </a:p>
          <a:p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8837784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Bounds - </a:t>
            </a:r>
          </a:p>
          <a:p>
            <a:r>
              <a:rPr lang="en-US" dirty="0"/>
              <a:t>Upper </a:t>
            </a:r>
            <a:r>
              <a:rPr lang="mr-IN" dirty="0"/>
              <a:t>–</a:t>
            </a:r>
            <a:r>
              <a:rPr lang="en-US" dirty="0"/>
              <a:t> almost always intend to talk about the least</a:t>
            </a:r>
            <a:r>
              <a:rPr lang="en-US" baseline="0" dirty="0"/>
              <a:t> upper bound</a:t>
            </a:r>
            <a:r>
              <a:rPr lang="mr-IN" baseline="0" dirty="0"/>
              <a:t>…</a:t>
            </a:r>
            <a:r>
              <a:rPr lang="en-US" baseline="0" dirty="0"/>
              <a:t> a bound that is tight.</a:t>
            </a:r>
          </a:p>
          <a:p>
            <a:r>
              <a:rPr lang="en-US" baseline="0" dirty="0"/>
              <a:t>Lower </a:t>
            </a:r>
            <a:r>
              <a:rPr lang="mr-IN" baseline="0" dirty="0"/>
              <a:t>–</a:t>
            </a:r>
            <a:r>
              <a:rPr lang="en-US" baseline="0" dirty="0"/>
              <a:t> no correct algorithm can do better.</a:t>
            </a:r>
            <a:endParaRPr lang="en-US" dirty="0"/>
          </a:p>
          <a:p>
            <a:r>
              <a:rPr lang="en-US" dirty="0"/>
              <a:t>Worst </a:t>
            </a:r>
            <a:r>
              <a:rPr lang="mr-IN" dirty="0"/>
              <a:t>–</a:t>
            </a:r>
            <a:r>
              <a:rPr lang="en-US" dirty="0"/>
              <a:t> as if an adversary is choosing your input</a:t>
            </a:r>
          </a:p>
          <a:p>
            <a:r>
              <a:rPr lang="en-US" dirty="0"/>
              <a:t>Average </a:t>
            </a:r>
            <a:r>
              <a:rPr lang="mr-IN" dirty="0"/>
              <a:t>–</a:t>
            </a:r>
            <a:r>
              <a:rPr lang="en-US" dirty="0"/>
              <a:t> analysis</a:t>
            </a:r>
            <a:r>
              <a:rPr lang="en-US" baseline="0" dirty="0"/>
              <a:t> requires some assumption about the distribution of inputs probabilistic.</a:t>
            </a:r>
          </a:p>
          <a:p>
            <a:r>
              <a:rPr lang="en-US" baseline="0" dirty="0"/>
              <a:t>Analysis is almost always worst case</a:t>
            </a:r>
          </a:p>
          <a:p>
            <a:r>
              <a:rPr lang="en-US" baseline="0" dirty="0"/>
              <a:t>Worst case == O(n), best case, average case?</a:t>
            </a:r>
          </a:p>
          <a:p>
            <a:endParaRPr lang="en-US" baseline="0" dirty="0"/>
          </a:p>
          <a:p>
            <a:r>
              <a:rPr lang="en-US" baseline="0" dirty="0"/>
              <a:t>TWO DIFFERENT THINGS GOING ON 1) data is a messy closet, how do we change that to analysis?</a:t>
            </a:r>
          </a:p>
          <a:p>
            <a:endParaRPr lang="en-US" baseline="0" dirty="0"/>
          </a:p>
          <a:p>
            <a:r>
              <a:rPr lang="en-US" baseline="0" dirty="0"/>
              <a:t>Also take a moment to change the bounds on the iteration??? As an aside??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5758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 3 things it depends on:</a:t>
            </a:r>
          </a:p>
          <a:p>
            <a:r>
              <a:rPr lang="en-US" dirty="0"/>
              <a:t>Speed of the machine</a:t>
            </a:r>
          </a:p>
          <a:p>
            <a:r>
              <a:rPr lang="en-US" dirty="0" err="1"/>
              <a:t>Lenggth</a:t>
            </a:r>
            <a:r>
              <a:rPr lang="en-US" dirty="0"/>
              <a:t> of the array</a:t>
            </a:r>
          </a:p>
          <a:p>
            <a:r>
              <a:rPr lang="en-US" dirty="0"/>
              <a:t>Where q is in the array (if)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13382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Bounds - </a:t>
            </a:r>
          </a:p>
          <a:p>
            <a:r>
              <a:rPr lang="en-US" dirty="0"/>
              <a:t>Upper </a:t>
            </a:r>
            <a:r>
              <a:rPr lang="mr-IN" dirty="0"/>
              <a:t>–</a:t>
            </a:r>
            <a:r>
              <a:rPr lang="en-US" dirty="0"/>
              <a:t> almost always intend to talk about the least</a:t>
            </a:r>
            <a:r>
              <a:rPr lang="en-US" baseline="0" dirty="0"/>
              <a:t> upper bound</a:t>
            </a:r>
            <a:r>
              <a:rPr lang="mr-IN" baseline="0" dirty="0"/>
              <a:t>…</a:t>
            </a:r>
            <a:r>
              <a:rPr lang="en-US" baseline="0" dirty="0"/>
              <a:t> a bound that is tight.</a:t>
            </a:r>
          </a:p>
          <a:p>
            <a:r>
              <a:rPr lang="en-US" baseline="0" dirty="0"/>
              <a:t>Lower </a:t>
            </a:r>
            <a:r>
              <a:rPr lang="mr-IN" baseline="0" dirty="0"/>
              <a:t>–</a:t>
            </a:r>
            <a:r>
              <a:rPr lang="en-US" baseline="0" dirty="0"/>
              <a:t> no correct algorithm can do better.</a:t>
            </a:r>
            <a:endParaRPr lang="en-US" dirty="0"/>
          </a:p>
          <a:p>
            <a:r>
              <a:rPr lang="en-US" dirty="0"/>
              <a:t>Worst </a:t>
            </a:r>
            <a:r>
              <a:rPr lang="mr-IN" dirty="0"/>
              <a:t>–</a:t>
            </a:r>
            <a:r>
              <a:rPr lang="en-US" dirty="0"/>
              <a:t> as if an adversary is choosing your input</a:t>
            </a:r>
          </a:p>
          <a:p>
            <a:r>
              <a:rPr lang="en-US" dirty="0"/>
              <a:t>Average </a:t>
            </a:r>
            <a:r>
              <a:rPr lang="mr-IN" dirty="0"/>
              <a:t>–</a:t>
            </a:r>
            <a:r>
              <a:rPr lang="en-US" dirty="0"/>
              <a:t> analysis</a:t>
            </a:r>
            <a:r>
              <a:rPr lang="en-US" baseline="0" dirty="0"/>
              <a:t> requires some assumption about the distribution of inputs probabilistic.</a:t>
            </a:r>
          </a:p>
          <a:p>
            <a:r>
              <a:rPr lang="en-US" baseline="0" dirty="0"/>
              <a:t>Analysis is almost always worst case</a:t>
            </a:r>
          </a:p>
          <a:p>
            <a:r>
              <a:rPr lang="en-US" baseline="0" dirty="0"/>
              <a:t>Worst case == O(n), best case, average case?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40422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Does the 2 matter, </a:t>
            </a:r>
          </a:p>
          <a:p>
            <a:r>
              <a:rPr lang="en-US" dirty="0"/>
              <a:t>does the 1 matter?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8886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Asymptotic upper bound on the worst case running time of a function.</a:t>
            </a:r>
          </a:p>
          <a:p>
            <a:endParaRPr lang="en-US" dirty="0"/>
          </a:p>
          <a:p>
            <a:r>
              <a:rPr lang="en-US" dirty="0"/>
              <a:t>Mention that they can ignore</a:t>
            </a:r>
            <a:r>
              <a:rPr lang="en-US" baseline="0" dirty="0"/>
              <a:t> the absolute values in their text, since our functions are positive functions.</a:t>
            </a:r>
          </a:p>
          <a:p>
            <a:r>
              <a:rPr lang="en-US" baseline="0" dirty="0"/>
              <a:t>This is like </a:t>
            </a:r>
            <a:r>
              <a:rPr lang="en-US" baseline="0" dirty="0" err="1"/>
              <a:t>leq</a:t>
            </a:r>
            <a:r>
              <a:rPr lang="mr-IN" baseline="0" dirty="0"/>
              <a:t>…</a:t>
            </a:r>
            <a:endParaRPr lang="en-US" baseline="0" dirty="0"/>
          </a:p>
          <a:p>
            <a:r>
              <a:rPr lang="en-US" baseline="0" dirty="0"/>
              <a:t>Also, T(n) \in O(f(n)) instead of = doesn’t matter here.</a:t>
            </a:r>
          </a:p>
          <a:p>
            <a:r>
              <a:rPr lang="en-US" baseline="0" dirty="0" err="1"/>
              <a:t>Asyptotic</a:t>
            </a:r>
            <a:r>
              <a:rPr lang="en-US" baseline="0" dirty="0"/>
              <a:t> upper bound and we use it for worst case running time.</a:t>
            </a:r>
          </a:p>
          <a:p>
            <a:endParaRPr lang="en-US" baseline="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8429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63994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774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uFillTx/>
              </a:defRPr>
            </a:pPr>
            <a:r>
              <a:rPr sz="4400">
                <a:uFill>
                  <a:solidFill/>
                </a:uFill>
              </a:rPr>
              <a:t>Title Text</a:t>
            </a:r>
          </a:p>
        </p:txBody>
      </p:sp>
      <p:sp>
        <p:nvSpPr>
          <p:cNvPr id="7" name="Shape 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783590" indent="-285750">
              <a:spcBef>
                <a:spcPts val="600"/>
              </a:spcBef>
              <a:buChar char="–"/>
              <a:defRPr sz="2800"/>
            </a:lvl2pPr>
            <a:lvl3pPr marL="1183639" indent="-228600">
              <a:spcBef>
                <a:spcPts val="500"/>
              </a:spcBef>
              <a:defRPr sz="2400"/>
            </a:lvl3pPr>
            <a:lvl4pPr marL="1640839" indent="-228600">
              <a:spcBef>
                <a:spcPts val="400"/>
              </a:spcBef>
              <a:buChar char="–"/>
              <a:defRPr sz="2000"/>
            </a:lvl4pPr>
            <a:lvl5pPr marL="2098039" indent="-228600">
              <a:spcBef>
                <a:spcPts val="400"/>
              </a:spcBef>
              <a:buChar char="»"/>
              <a:defRPr sz="2000"/>
            </a:lvl5pPr>
          </a:lstStyle>
          <a:p>
            <a:pPr lvl="0">
              <a:defRPr sz="1800">
                <a:uFillTx/>
              </a:defRPr>
            </a:pPr>
            <a:r>
              <a:rPr sz="3200">
                <a:uFill>
                  <a:solidFill/>
                </a:uFill>
              </a:rPr>
              <a:t>Body Level One</a:t>
            </a:r>
          </a:p>
          <a:p>
            <a:pPr lvl="1">
              <a:defRPr sz="1800">
                <a:uFillTx/>
              </a:defRPr>
            </a:pPr>
            <a:r>
              <a:rPr sz="2800">
                <a:uFill>
                  <a:solidFill/>
                </a:uFill>
              </a:rPr>
              <a:t>Body Level Two</a:t>
            </a:r>
          </a:p>
          <a:p>
            <a:pPr lvl="2">
              <a:defRPr sz="1800">
                <a:uFillTx/>
              </a:defRPr>
            </a:pPr>
            <a:r>
              <a:rPr sz="2400">
                <a:uFill>
                  <a:solidFill/>
                </a:uFill>
              </a:rPr>
              <a:t>Body Level Three</a:t>
            </a:r>
          </a:p>
          <a:p>
            <a:pPr lvl="3">
              <a:defRPr sz="1800">
                <a:uFillTx/>
              </a:defRPr>
            </a:pPr>
            <a:r>
              <a:rPr sz="2000">
                <a:uFill>
                  <a:solidFill/>
                </a:uFill>
              </a:rPr>
              <a:t>Body Level Four</a:t>
            </a:r>
          </a:p>
          <a:p>
            <a:pPr lvl="4">
              <a:defRPr sz="1800">
                <a:uFillTx/>
              </a:defRPr>
            </a:pPr>
            <a:r>
              <a:rPr sz="2000">
                <a:uFill>
                  <a:solidFill/>
                </a:uFill>
              </a:rPr>
              <a:t>Body Level Five</a:t>
            </a:r>
          </a:p>
        </p:txBody>
      </p:sp>
      <p:sp>
        <p:nvSpPr>
          <p:cNvPr id="8" name="Shape 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1600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/>
          <a:p>
            <a:pPr lvl="0">
              <a:defRPr sz="1800">
                <a:uFillTx/>
              </a:defRPr>
            </a:pPr>
            <a:r>
              <a:rPr sz="4400">
                <a:uFill>
                  <a:solidFill/>
                </a:uFill>
              </a:rPr>
              <a:t>Title Text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876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/>
          <a:lstStyle>
            <a:lvl2pPr marL="783590" indent="-285750">
              <a:spcBef>
                <a:spcPts val="600"/>
              </a:spcBef>
              <a:buChar char="–"/>
              <a:defRPr sz="2800"/>
            </a:lvl2pPr>
            <a:lvl3pPr marL="1183639" indent="-228600">
              <a:spcBef>
                <a:spcPts val="500"/>
              </a:spcBef>
              <a:defRPr sz="2400"/>
            </a:lvl3pPr>
            <a:lvl4pPr marL="1640839" indent="-228600">
              <a:spcBef>
                <a:spcPts val="400"/>
              </a:spcBef>
              <a:buChar char="–"/>
              <a:defRPr sz="2000"/>
            </a:lvl4pPr>
            <a:lvl5pPr marL="2098039" indent="-228600">
              <a:spcBef>
                <a:spcPts val="400"/>
              </a:spcBef>
              <a:buChar char="»"/>
              <a:defRPr sz="2000"/>
            </a:lvl5pPr>
          </a:lstStyle>
          <a:p>
            <a:pPr lvl="0">
              <a:defRPr sz="1800">
                <a:uFillTx/>
              </a:defRPr>
            </a:pPr>
            <a:r>
              <a:rPr sz="3200">
                <a:uFill>
                  <a:solidFill/>
                </a:uFill>
              </a:rPr>
              <a:t>Body Level One</a:t>
            </a:r>
          </a:p>
          <a:p>
            <a:pPr lvl="1">
              <a:defRPr sz="1800">
                <a:uFillTx/>
              </a:defRPr>
            </a:pPr>
            <a:r>
              <a:rPr sz="2800">
                <a:uFill>
                  <a:solidFill/>
                </a:uFill>
              </a:rPr>
              <a:t>Body Level Two</a:t>
            </a:r>
          </a:p>
          <a:p>
            <a:pPr lvl="2">
              <a:defRPr sz="1800">
                <a:uFillTx/>
              </a:defRPr>
            </a:pPr>
            <a:r>
              <a:rPr sz="2400">
                <a:uFill>
                  <a:solidFill/>
                </a:uFill>
              </a:rPr>
              <a:t>Body Level Three</a:t>
            </a:r>
          </a:p>
          <a:p>
            <a:pPr lvl="3">
              <a:defRPr sz="1800">
                <a:uFillTx/>
              </a:defRPr>
            </a:pPr>
            <a:r>
              <a:rPr sz="2000">
                <a:uFill>
                  <a:solidFill/>
                </a:uFill>
              </a:rPr>
              <a:t>Body Level Four</a:t>
            </a:r>
          </a:p>
          <a:p>
            <a:pPr lvl="4">
              <a:defRPr sz="1800">
                <a:uFillTx/>
              </a:defRPr>
            </a:pPr>
            <a:r>
              <a:rPr sz="2000">
                <a:uFill>
                  <a:solidFill/>
                </a:uFill>
              </a:rPr>
              <a:t>Body Level Five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7349666" y="6248400"/>
            <a:ext cx="312068" cy="298984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marL="0" marR="0" algn="ctr" defTabSz="584200">
              <a:defRPr sz="1400"/>
            </a:lvl1pPr>
          </a:lstStyle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40639" marR="40639" algn="ctr">
        <a:defRPr sz="4400">
          <a:uFill>
            <a:solidFill/>
          </a:uFill>
          <a:latin typeface="+mn-lt"/>
          <a:ea typeface="+mn-ea"/>
          <a:cs typeface="+mn-cs"/>
          <a:sym typeface="Arial"/>
        </a:defRPr>
      </a:lvl1pPr>
      <a:lvl2pPr marL="40639" marR="40639" indent="228600" algn="ctr">
        <a:defRPr sz="4400">
          <a:uFill>
            <a:solidFill/>
          </a:uFill>
          <a:latin typeface="+mn-lt"/>
          <a:ea typeface="+mn-ea"/>
          <a:cs typeface="+mn-cs"/>
          <a:sym typeface="Arial"/>
        </a:defRPr>
      </a:lvl2pPr>
      <a:lvl3pPr marL="40639" marR="40639" indent="457200" algn="ctr">
        <a:defRPr sz="4400">
          <a:uFill>
            <a:solidFill/>
          </a:uFill>
          <a:latin typeface="+mn-lt"/>
          <a:ea typeface="+mn-ea"/>
          <a:cs typeface="+mn-cs"/>
          <a:sym typeface="Arial"/>
        </a:defRPr>
      </a:lvl3pPr>
      <a:lvl4pPr marL="40639" marR="40639" indent="685800" algn="ctr">
        <a:defRPr sz="4400">
          <a:uFill>
            <a:solidFill/>
          </a:uFill>
          <a:latin typeface="+mn-lt"/>
          <a:ea typeface="+mn-ea"/>
          <a:cs typeface="+mn-cs"/>
          <a:sym typeface="Arial"/>
        </a:defRPr>
      </a:lvl4pPr>
      <a:lvl5pPr marL="40639" marR="40639" indent="914400" algn="ctr">
        <a:defRPr sz="4400">
          <a:uFill>
            <a:solidFill/>
          </a:uFill>
          <a:latin typeface="+mn-lt"/>
          <a:ea typeface="+mn-ea"/>
          <a:cs typeface="+mn-cs"/>
          <a:sym typeface="Arial"/>
        </a:defRPr>
      </a:lvl5pPr>
      <a:lvl6pPr marL="40639" marR="40639" indent="1143000" algn="ctr">
        <a:defRPr sz="4400">
          <a:uFill>
            <a:solidFill/>
          </a:uFill>
          <a:latin typeface="+mn-lt"/>
          <a:ea typeface="+mn-ea"/>
          <a:cs typeface="+mn-cs"/>
          <a:sym typeface="Arial"/>
        </a:defRPr>
      </a:lvl6pPr>
      <a:lvl7pPr marL="40639" marR="40639" indent="1371600" algn="ctr">
        <a:defRPr sz="4400">
          <a:uFill>
            <a:solidFill/>
          </a:uFill>
          <a:latin typeface="+mn-lt"/>
          <a:ea typeface="+mn-ea"/>
          <a:cs typeface="+mn-cs"/>
          <a:sym typeface="Arial"/>
        </a:defRPr>
      </a:lvl7pPr>
      <a:lvl8pPr marL="40639" marR="40639" indent="1600200" algn="ctr">
        <a:defRPr sz="4400">
          <a:uFill>
            <a:solidFill/>
          </a:uFill>
          <a:latin typeface="+mn-lt"/>
          <a:ea typeface="+mn-ea"/>
          <a:cs typeface="+mn-cs"/>
          <a:sym typeface="Arial"/>
        </a:defRPr>
      </a:lvl8pPr>
      <a:lvl9pPr marL="40639" marR="40639" indent="1828800" algn="ctr">
        <a:defRPr sz="4400">
          <a:uFill>
            <a:solidFill/>
          </a:uFill>
          <a:latin typeface="+mn-lt"/>
          <a:ea typeface="+mn-ea"/>
          <a:cs typeface="+mn-cs"/>
          <a:sym typeface="Arial"/>
        </a:defRPr>
      </a:lvl9pPr>
    </p:titleStyle>
    <p:bodyStyle>
      <a:lvl1pPr marL="383540" marR="40639" indent="-342900">
        <a:spcBef>
          <a:spcPts val="700"/>
        </a:spcBef>
        <a:buSzPct val="100000"/>
        <a:buChar char="•"/>
        <a:defRPr sz="3200">
          <a:uFill>
            <a:solidFill/>
          </a:uFill>
          <a:latin typeface="+mn-lt"/>
          <a:ea typeface="+mn-ea"/>
          <a:cs typeface="+mn-cs"/>
          <a:sym typeface="Arial"/>
        </a:defRPr>
      </a:lvl1pPr>
      <a:lvl2pPr marL="824411" marR="40639" indent="-326571">
        <a:spcBef>
          <a:spcPts val="700"/>
        </a:spcBef>
        <a:buSzPct val="100000"/>
        <a:buChar char="•"/>
        <a:defRPr sz="3200">
          <a:uFill>
            <a:solidFill/>
          </a:uFill>
          <a:latin typeface="+mn-lt"/>
          <a:ea typeface="+mn-ea"/>
          <a:cs typeface="+mn-cs"/>
          <a:sym typeface="Arial"/>
        </a:defRPr>
      </a:lvl2pPr>
      <a:lvl3pPr marL="1259839" marR="40639" indent="-304800">
        <a:spcBef>
          <a:spcPts val="700"/>
        </a:spcBef>
        <a:buSzPct val="100000"/>
        <a:buChar char="•"/>
        <a:defRPr sz="3200">
          <a:uFill>
            <a:solidFill/>
          </a:uFill>
          <a:latin typeface="+mn-lt"/>
          <a:ea typeface="+mn-ea"/>
          <a:cs typeface="+mn-cs"/>
          <a:sym typeface="Arial"/>
        </a:defRPr>
      </a:lvl3pPr>
      <a:lvl4pPr marL="1778000" marR="40639" indent="-365760">
        <a:spcBef>
          <a:spcPts val="700"/>
        </a:spcBef>
        <a:buSzPct val="100000"/>
        <a:buChar char="•"/>
        <a:defRPr sz="3200">
          <a:uFill>
            <a:solidFill/>
          </a:uFill>
          <a:latin typeface="+mn-lt"/>
          <a:ea typeface="+mn-ea"/>
          <a:cs typeface="+mn-cs"/>
          <a:sym typeface="Arial"/>
        </a:defRPr>
      </a:lvl4pPr>
      <a:lvl5pPr marL="2235200" marR="40639" indent="-365760">
        <a:spcBef>
          <a:spcPts val="700"/>
        </a:spcBef>
        <a:buSzPct val="100000"/>
        <a:buChar char="•"/>
        <a:defRPr sz="3200">
          <a:uFill>
            <a:solidFill/>
          </a:uFill>
          <a:latin typeface="+mn-lt"/>
          <a:ea typeface="+mn-ea"/>
          <a:cs typeface="+mn-cs"/>
          <a:sym typeface="Arial"/>
        </a:defRPr>
      </a:lvl5pPr>
      <a:lvl6pPr marL="2235200" marR="40639" indent="-365760">
        <a:spcBef>
          <a:spcPts val="700"/>
        </a:spcBef>
        <a:buSzPct val="100000"/>
        <a:buChar char="•"/>
        <a:defRPr sz="3200">
          <a:uFill>
            <a:solidFill/>
          </a:uFill>
          <a:latin typeface="+mn-lt"/>
          <a:ea typeface="+mn-ea"/>
          <a:cs typeface="+mn-cs"/>
          <a:sym typeface="Arial"/>
        </a:defRPr>
      </a:lvl6pPr>
      <a:lvl7pPr marL="2235200" marR="40639" indent="-365760">
        <a:spcBef>
          <a:spcPts val="700"/>
        </a:spcBef>
        <a:buSzPct val="100000"/>
        <a:buChar char="•"/>
        <a:defRPr sz="3200">
          <a:uFill>
            <a:solidFill/>
          </a:uFill>
          <a:latin typeface="+mn-lt"/>
          <a:ea typeface="+mn-ea"/>
          <a:cs typeface="+mn-cs"/>
          <a:sym typeface="Arial"/>
        </a:defRPr>
      </a:lvl7pPr>
      <a:lvl8pPr marL="2235200" marR="40639" indent="-365760">
        <a:spcBef>
          <a:spcPts val="700"/>
        </a:spcBef>
        <a:buSzPct val="100000"/>
        <a:buChar char="•"/>
        <a:defRPr sz="3200">
          <a:uFill>
            <a:solidFill/>
          </a:uFill>
          <a:latin typeface="+mn-lt"/>
          <a:ea typeface="+mn-ea"/>
          <a:cs typeface="+mn-cs"/>
          <a:sym typeface="Arial"/>
        </a:defRPr>
      </a:lvl8pPr>
      <a:lvl9pPr marL="2235200" marR="40639" indent="-365760">
        <a:spcBef>
          <a:spcPts val="700"/>
        </a:spcBef>
        <a:buSzPct val="100000"/>
        <a:buChar char="•"/>
        <a:defRPr sz="3200">
          <a:uFill>
            <a:solidFill/>
          </a:uFill>
          <a:latin typeface="+mn-lt"/>
          <a:ea typeface="+mn-ea"/>
          <a:cs typeface="+mn-cs"/>
          <a:sym typeface="Arial"/>
        </a:defRPr>
      </a:lvl9pPr>
    </p:bodyStyle>
    <p:otherStyle>
      <a:lvl1pPr algn="ctr" defTabSz="584200">
        <a:defRPr sz="1400">
          <a:solidFill>
            <a:schemeClr val="tx1"/>
          </a:solidFill>
          <a:uFill>
            <a:solidFill/>
          </a:uFill>
          <a:latin typeface="+mn-lt"/>
          <a:ea typeface="+mn-ea"/>
          <a:cs typeface="+mn-cs"/>
          <a:sym typeface="Arial"/>
        </a:defRPr>
      </a:lvl1pPr>
      <a:lvl2pPr indent="228600" algn="ctr" defTabSz="584200">
        <a:defRPr sz="1400">
          <a:solidFill>
            <a:schemeClr val="tx1"/>
          </a:solidFill>
          <a:uFill>
            <a:solidFill/>
          </a:uFill>
          <a:latin typeface="+mn-lt"/>
          <a:ea typeface="+mn-ea"/>
          <a:cs typeface="+mn-cs"/>
          <a:sym typeface="Arial"/>
        </a:defRPr>
      </a:lvl2pPr>
      <a:lvl3pPr indent="457200" algn="ctr" defTabSz="584200">
        <a:defRPr sz="1400">
          <a:solidFill>
            <a:schemeClr val="tx1"/>
          </a:solidFill>
          <a:uFill>
            <a:solidFill/>
          </a:uFill>
          <a:latin typeface="+mn-lt"/>
          <a:ea typeface="+mn-ea"/>
          <a:cs typeface="+mn-cs"/>
          <a:sym typeface="Arial"/>
        </a:defRPr>
      </a:lvl3pPr>
      <a:lvl4pPr indent="685800" algn="ctr" defTabSz="584200">
        <a:defRPr sz="1400">
          <a:solidFill>
            <a:schemeClr val="tx1"/>
          </a:solidFill>
          <a:uFill>
            <a:solidFill/>
          </a:uFill>
          <a:latin typeface="+mn-lt"/>
          <a:ea typeface="+mn-ea"/>
          <a:cs typeface="+mn-cs"/>
          <a:sym typeface="Arial"/>
        </a:defRPr>
      </a:lvl4pPr>
      <a:lvl5pPr indent="914400" algn="ctr" defTabSz="584200">
        <a:defRPr sz="1400">
          <a:solidFill>
            <a:schemeClr val="tx1"/>
          </a:solidFill>
          <a:uFill>
            <a:solidFill/>
          </a:uFill>
          <a:latin typeface="+mn-lt"/>
          <a:ea typeface="+mn-ea"/>
          <a:cs typeface="+mn-cs"/>
          <a:sym typeface="Arial"/>
        </a:defRPr>
      </a:lvl5pPr>
      <a:lvl6pPr indent="1143000" algn="ctr" defTabSz="584200">
        <a:defRPr sz="1400">
          <a:solidFill>
            <a:schemeClr val="tx1"/>
          </a:solidFill>
          <a:uFill>
            <a:solidFill/>
          </a:uFill>
          <a:latin typeface="+mn-lt"/>
          <a:ea typeface="+mn-ea"/>
          <a:cs typeface="+mn-cs"/>
          <a:sym typeface="Arial"/>
        </a:defRPr>
      </a:lvl6pPr>
      <a:lvl7pPr indent="1371600" algn="ctr" defTabSz="584200">
        <a:defRPr sz="1400">
          <a:solidFill>
            <a:schemeClr val="tx1"/>
          </a:solidFill>
          <a:uFill>
            <a:solidFill/>
          </a:uFill>
          <a:latin typeface="+mn-lt"/>
          <a:ea typeface="+mn-ea"/>
          <a:cs typeface="+mn-cs"/>
          <a:sym typeface="Arial"/>
        </a:defRPr>
      </a:lvl7pPr>
      <a:lvl8pPr indent="1600200" algn="ctr" defTabSz="584200">
        <a:defRPr sz="1400">
          <a:solidFill>
            <a:schemeClr val="tx1"/>
          </a:solidFill>
          <a:uFill>
            <a:solidFill/>
          </a:uFill>
          <a:latin typeface="+mn-lt"/>
          <a:ea typeface="+mn-ea"/>
          <a:cs typeface="+mn-cs"/>
          <a:sym typeface="Arial"/>
        </a:defRPr>
      </a:lvl8pPr>
      <a:lvl9pPr indent="1828800" algn="ctr" defTabSz="584200">
        <a:defRPr sz="1400">
          <a:solidFill>
            <a:schemeClr val="tx1"/>
          </a:solidFill>
          <a:uFill>
            <a:solidFill/>
          </a:uFill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cheeren@cs.ubc.ca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>
            <a:spLocks noGrp="1"/>
          </p:cNvSpPr>
          <p:nvPr>
            <p:ph type="title"/>
          </p:nvPr>
        </p:nvSpPr>
        <p:spPr>
          <a:xfrm>
            <a:off x="685800" y="1828800"/>
            <a:ext cx="7772400" cy="2057400"/>
          </a:xfrm>
          <a:prstGeom prst="rect">
            <a:avLst/>
          </a:prstGeom>
        </p:spPr>
        <p:txBody>
          <a:bodyPr/>
          <a:lstStyle/>
          <a:p>
            <a:pPr lvl="0">
              <a:defRPr sz="1800">
                <a:uFillTx/>
              </a:defRPr>
            </a:pPr>
            <a:r>
              <a:rPr sz="4400" dirty="0">
                <a:uFill>
                  <a:solidFill/>
                </a:uFill>
                <a:latin typeface="Abadi MT Condensed Light" charset="0"/>
                <a:ea typeface="Abadi MT Condensed Light" charset="0"/>
                <a:cs typeface="Abadi MT Condensed Light" charset="0"/>
              </a:rPr>
              <a:t>C</a:t>
            </a:r>
            <a:r>
              <a:rPr lang="en-US" sz="4400" dirty="0">
                <a:uFill>
                  <a:solidFill/>
                </a:uFill>
                <a:latin typeface="Abadi MT Condensed Light" charset="0"/>
                <a:ea typeface="Abadi MT Condensed Light" charset="0"/>
                <a:cs typeface="Abadi MT Condensed Light" charset="0"/>
              </a:rPr>
              <a:t>P</a:t>
            </a:r>
            <a:r>
              <a:rPr sz="4400" dirty="0">
                <a:uFill>
                  <a:solidFill/>
                </a:uFill>
                <a:latin typeface="Abadi MT Condensed Light" charset="0"/>
                <a:ea typeface="Abadi MT Condensed Light" charset="0"/>
                <a:cs typeface="Abadi MT Condensed Light" charset="0"/>
              </a:rPr>
              <a:t>S</a:t>
            </a:r>
            <a:r>
              <a:rPr lang="en-US" sz="4400" dirty="0">
                <a:uFill>
                  <a:solidFill/>
                </a:uFill>
                <a:latin typeface="Abadi MT Condensed Light" charset="0"/>
                <a:ea typeface="Abadi MT Condensed Light" charset="0"/>
                <a:cs typeface="Abadi MT Condensed Light" charset="0"/>
              </a:rPr>
              <a:t>C</a:t>
            </a:r>
            <a:r>
              <a:rPr sz="4400" dirty="0">
                <a:uFill>
                  <a:solidFill/>
                </a:uFill>
                <a:latin typeface="Abadi MT Condensed Light" charset="0"/>
                <a:ea typeface="Abadi MT Condensed Light" charset="0"/>
                <a:cs typeface="Abadi MT Condensed Light" charset="0"/>
              </a:rPr>
              <a:t>22</a:t>
            </a:r>
            <a:r>
              <a:rPr lang="en-US" sz="4400" dirty="0">
                <a:uFill>
                  <a:solidFill/>
                </a:uFill>
                <a:latin typeface="Abadi MT Condensed Light" charset="0"/>
                <a:ea typeface="Abadi MT Condensed Light" charset="0"/>
                <a:cs typeface="Abadi MT Condensed Light" charset="0"/>
              </a:rPr>
              <a:t>1</a:t>
            </a:r>
            <a:endParaRPr sz="4400" dirty="0">
              <a:uFill>
                <a:solidFill/>
              </a:uFill>
              <a:latin typeface="Abadi MT Condensed Light" charset="0"/>
              <a:ea typeface="Abadi MT Condensed Light" charset="0"/>
              <a:cs typeface="Abadi MT Condensed Light" charset="0"/>
            </a:endParaRPr>
          </a:p>
        </p:txBody>
      </p:sp>
      <p:sp>
        <p:nvSpPr>
          <p:cNvPr id="13" name="Shape 13"/>
          <p:cNvSpPr>
            <a:spLocks noGrp="1"/>
          </p:cNvSpPr>
          <p:nvPr>
            <p:ph type="body" idx="1"/>
          </p:nvPr>
        </p:nvSpPr>
        <p:spPr>
          <a:xfrm>
            <a:off x="1371600" y="3886200"/>
            <a:ext cx="6400800" cy="2971800"/>
          </a:xfrm>
          <a:prstGeom prst="rect">
            <a:avLst/>
          </a:prstGeom>
        </p:spPr>
        <p:txBody>
          <a:bodyPr/>
          <a:lstStyle>
            <a:lvl1pPr marL="40639" indent="0" algn="ctr">
              <a:buClr>
                <a:srgbClr val="000000"/>
              </a:buClr>
              <a:buSzTx/>
              <a:buFont typeface="Arial"/>
              <a:buNone/>
            </a:lvl1pPr>
          </a:lstStyle>
          <a:p>
            <a:pPr lvl="0">
              <a:defRPr sz="1800">
                <a:uFillTx/>
              </a:defRPr>
            </a:pPr>
            <a:r>
              <a:rPr lang="en-US" sz="3200" dirty="0">
                <a:uFill>
                  <a:solidFill/>
                </a:uFill>
                <a:latin typeface="Abadi MT Condensed Light" charset="0"/>
                <a:ea typeface="Abadi MT Condensed Light" charset="0"/>
                <a:cs typeface="Abadi MT Condensed Light" charset="0"/>
              </a:rPr>
              <a:t>Introduction to </a:t>
            </a:r>
            <a:r>
              <a:rPr sz="3200" dirty="0">
                <a:uFill>
                  <a:solidFill/>
                </a:uFill>
                <a:latin typeface="Abadi MT Condensed Light" charset="0"/>
                <a:ea typeface="Abadi MT Condensed Light" charset="0"/>
                <a:cs typeface="Abadi MT Condensed Light" charset="0"/>
              </a:rPr>
              <a:t>Data Structures and </a:t>
            </a:r>
            <a:r>
              <a:rPr lang="en-US" sz="3200" dirty="0">
                <a:uFill>
                  <a:solidFill/>
                </a:uFill>
                <a:latin typeface="Abadi MT Condensed Light" charset="0"/>
                <a:ea typeface="Abadi MT Condensed Light" charset="0"/>
                <a:cs typeface="Abadi MT Condensed Light" charset="0"/>
              </a:rPr>
              <a:t>Algorithms</a:t>
            </a:r>
            <a:endParaRPr sz="3200" dirty="0">
              <a:uFill>
                <a:solidFill/>
              </a:uFill>
              <a:latin typeface="Abadi MT Condensed Light" charset="0"/>
              <a:ea typeface="Abadi MT Condensed Light" charset="0"/>
              <a:cs typeface="Abadi MT Condensed Light" charset="0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5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>
            <a:lvl1pPr algn="l"/>
          </a:lstStyle>
          <a:p>
            <a:pPr lvl="0">
              <a:defRPr sz="1800">
                <a:uFillTx/>
              </a:defRPr>
            </a:pPr>
            <a:r>
              <a:rPr sz="4400" dirty="0">
                <a:uFill>
                  <a:solidFill/>
                </a:uFill>
                <a:latin typeface="Abadi MT Condensed Light" charset="0"/>
                <a:ea typeface="Abadi MT Condensed Light" charset="0"/>
                <a:cs typeface="Abadi MT Condensed Light" charset="0"/>
              </a:rPr>
              <a:t>Introductions:</a:t>
            </a:r>
          </a:p>
        </p:txBody>
      </p:sp>
      <p:sp>
        <p:nvSpPr>
          <p:cNvPr id="16" name="Shape 16"/>
          <p:cNvSpPr>
            <a:spLocks noGrp="1"/>
          </p:cNvSpPr>
          <p:nvPr>
            <p:ph type="body" idx="1"/>
          </p:nvPr>
        </p:nvSpPr>
        <p:spPr>
          <a:xfrm>
            <a:off x="685800" y="1752600"/>
            <a:ext cx="8458200" cy="5105400"/>
          </a:xfrm>
          <a:prstGeom prst="rect">
            <a:avLst/>
          </a:prstGeom>
        </p:spPr>
        <p:txBody>
          <a:bodyPr/>
          <a:lstStyle/>
          <a:p>
            <a:pPr lvl="0">
              <a:buClr>
                <a:srgbClr val="000000"/>
              </a:buClr>
              <a:buSzTx/>
              <a:buFont typeface="Arial"/>
              <a:buNone/>
              <a:defRPr sz="1800">
                <a:uFillTx/>
              </a:defRPr>
            </a:pPr>
            <a:r>
              <a:rPr lang="en-US" sz="2400" dirty="0">
                <a:uFill>
                  <a:solidFill/>
                </a:uFill>
                <a:latin typeface="Abadi MT Condensed Light" charset="0"/>
                <a:ea typeface="Abadi MT Condensed Light" charset="0"/>
                <a:cs typeface="Abadi MT Condensed Light" charset="0"/>
              </a:rPr>
              <a:t>US</a:t>
            </a:r>
            <a:r>
              <a:rPr sz="2400" dirty="0">
                <a:uFill>
                  <a:solidFill/>
                </a:uFill>
                <a:latin typeface="Abadi MT Condensed Light" charset="0"/>
                <a:ea typeface="Abadi MT Condensed Light" charset="0"/>
                <a:cs typeface="Abadi MT Condensed Light" charset="0"/>
              </a:rPr>
              <a:t>:  </a:t>
            </a:r>
            <a:endParaRPr lang="en-US" sz="2400" dirty="0">
              <a:uFill>
                <a:solidFill/>
              </a:uFill>
              <a:latin typeface="Abadi MT Condensed Light" charset="0"/>
              <a:ea typeface="Abadi MT Condensed Light" charset="0"/>
              <a:cs typeface="Abadi MT Condensed Light" charset="0"/>
            </a:endParaRPr>
          </a:p>
          <a:p>
            <a:pPr lvl="0">
              <a:buClr>
                <a:srgbClr val="000000"/>
              </a:buClr>
              <a:buSzTx/>
              <a:buFont typeface="Arial"/>
              <a:buNone/>
              <a:defRPr sz="1800">
                <a:uFillTx/>
              </a:defRPr>
            </a:pPr>
            <a:r>
              <a:rPr lang="en-US" sz="2400" dirty="0">
                <a:latin typeface="Abadi MT Condensed Light" charset="0"/>
                <a:ea typeface="Abadi MT Condensed Light" charset="0"/>
                <a:cs typeface="Abadi MT Condensed Light" charset="0"/>
              </a:rPr>
              <a:t>	</a:t>
            </a:r>
            <a:r>
              <a:rPr sz="2400" dirty="0">
                <a:uFill>
                  <a:solidFill/>
                </a:uFill>
                <a:latin typeface="Abadi MT Condensed Light" charset="0"/>
                <a:ea typeface="Abadi MT Condensed Light" charset="0"/>
                <a:cs typeface="Abadi MT Condensed Light" charset="0"/>
              </a:rPr>
              <a:t>Cinda Heeren</a:t>
            </a:r>
            <a:r>
              <a:rPr lang="en-US" sz="2400" dirty="0">
                <a:uFill>
                  <a:solidFill/>
                </a:uFill>
                <a:latin typeface="Abadi MT Condensed Light" charset="0"/>
                <a:ea typeface="Abadi MT Condensed Light" charset="0"/>
                <a:cs typeface="Abadi MT Condensed Light" charset="0"/>
              </a:rPr>
              <a:t> </a:t>
            </a:r>
            <a:r>
              <a:rPr lang="mr-IN" sz="2400" dirty="0">
                <a:uFill>
                  <a:solidFill/>
                </a:uFill>
                <a:latin typeface="Abadi MT Condensed Light" charset="0"/>
                <a:ea typeface="Abadi MT Condensed Light" charset="0"/>
                <a:cs typeface="Abadi MT Condensed Light" charset="0"/>
              </a:rPr>
              <a:t>–</a:t>
            </a:r>
            <a:r>
              <a:rPr lang="en-US" sz="2400" dirty="0">
                <a:latin typeface="Abadi MT Condensed Light" charset="0"/>
                <a:ea typeface="Abadi MT Condensed Light" charset="0"/>
                <a:cs typeface="Abadi MT Condensed Light" charset="0"/>
              </a:rPr>
              <a:t> </a:t>
            </a:r>
            <a:r>
              <a:rPr lang="en-US" sz="2000" dirty="0">
                <a:uFillTx/>
                <a:latin typeface="Abadi MT Condensed Light" charset="0"/>
                <a:ea typeface="Abadi MT Condensed Light" charset="0"/>
                <a:cs typeface="Abadi MT Condensed Light" charset="0"/>
                <a:hlinkClick r:id="rId3"/>
              </a:rPr>
              <a:t>cheeren@cs.ubc.ca</a:t>
            </a:r>
            <a:r>
              <a:rPr lang="en-US" sz="2000" dirty="0">
                <a:uFillTx/>
                <a:latin typeface="Abadi MT Condensed Light" charset="0"/>
                <a:ea typeface="Abadi MT Condensed Light" charset="0"/>
                <a:cs typeface="Abadi MT Condensed Light" charset="0"/>
              </a:rPr>
              <a:t>   OH: after class, usually.</a:t>
            </a:r>
          </a:p>
          <a:p>
            <a:pPr>
              <a:buClr>
                <a:srgbClr val="000000"/>
              </a:buClr>
              <a:buSzTx/>
              <a:buNone/>
              <a:defRPr sz="1800">
                <a:uFillTx/>
              </a:defRPr>
            </a:pPr>
            <a:r>
              <a:rPr lang="en-US" sz="2000" dirty="0">
                <a:uFillTx/>
                <a:latin typeface="Abadi MT Condensed Light" charset="0"/>
                <a:ea typeface="Abadi MT Condensed Light" charset="0"/>
                <a:cs typeface="Abadi MT Condensed Light" charset="0"/>
              </a:rPr>
              <a:t>	</a:t>
            </a:r>
            <a:r>
              <a:rPr lang="en-US" sz="2400" dirty="0" err="1">
                <a:latin typeface="Abadi MT Condensed Light" charset="0"/>
                <a:ea typeface="Abadi MT Condensed Light" charset="0"/>
                <a:cs typeface="Abadi MT Condensed Light" charset="0"/>
              </a:rPr>
              <a:t>Ruiyu</a:t>
            </a:r>
            <a:r>
              <a:rPr lang="en-US" sz="2400" dirty="0">
                <a:latin typeface="Abadi MT Condensed Light" charset="0"/>
                <a:ea typeface="Abadi MT Condensed Light" charset="0"/>
                <a:cs typeface="Abadi MT Condensed Light" charset="0"/>
              </a:rPr>
              <a:t> Gou</a:t>
            </a:r>
          </a:p>
          <a:p>
            <a:pPr lvl="0">
              <a:buClr>
                <a:srgbClr val="000000"/>
              </a:buClr>
              <a:buSzTx/>
              <a:buFont typeface="Arial"/>
              <a:buNone/>
              <a:defRPr sz="1800">
                <a:uFillTx/>
              </a:defRPr>
            </a:pPr>
            <a:endParaRPr lang="en-US" sz="2000" dirty="0">
              <a:uFillTx/>
              <a:latin typeface="Abadi MT Condensed Light" charset="0"/>
              <a:ea typeface="Abadi MT Condensed Light" charset="0"/>
              <a:cs typeface="Abadi MT Condensed Light" charset="0"/>
            </a:endParaRPr>
          </a:p>
          <a:p>
            <a:pPr lvl="0">
              <a:buClr>
                <a:srgbClr val="000000"/>
              </a:buClr>
              <a:buSzTx/>
              <a:buFont typeface="Arial"/>
              <a:buNone/>
              <a:defRPr sz="1800">
                <a:uFillTx/>
              </a:defRPr>
            </a:pPr>
            <a:r>
              <a:rPr sz="2400" dirty="0">
                <a:uFill>
                  <a:solidFill/>
                </a:uFill>
                <a:latin typeface="Abadi MT Condensed Light" charset="0"/>
                <a:ea typeface="Abadi MT Condensed Light" charset="0"/>
                <a:cs typeface="Abadi MT Condensed Light" charset="0"/>
              </a:rPr>
              <a:t>Course staff:  </a:t>
            </a:r>
          </a:p>
          <a:p>
            <a:pPr lvl="0">
              <a:buClr>
                <a:srgbClr val="000000"/>
              </a:buClr>
              <a:buSzTx/>
              <a:buFont typeface="Arial"/>
              <a:buNone/>
              <a:defRPr sz="1800">
                <a:uFillTx/>
              </a:defRPr>
            </a:pPr>
            <a:endParaRPr sz="2400" dirty="0">
              <a:uFill>
                <a:solidFill/>
              </a:uFill>
              <a:latin typeface="Abadi MT Condensed Light" charset="0"/>
              <a:ea typeface="Abadi MT Condensed Light" charset="0"/>
              <a:cs typeface="Abadi MT Condensed Light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C0651BC-F3DD-7B46-BF1F-AF0BE11320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00" y="4089400"/>
            <a:ext cx="7340600" cy="4318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/>
          </a:lstStyle>
          <a:p>
            <a:pPr lvl="0">
              <a:defRPr sz="1800">
                <a:uFillTx/>
              </a:defRPr>
            </a:pPr>
            <a:r>
              <a:rPr sz="4400" dirty="0">
                <a:uFill>
                  <a:solidFill/>
                </a:uFill>
                <a:latin typeface="Abadi MT Condensed Light" charset="0"/>
                <a:ea typeface="Abadi MT Condensed Light" charset="0"/>
                <a:cs typeface="Abadi MT Condensed Light" charset="0"/>
              </a:rPr>
              <a:t>All you need to know is </a:t>
            </a:r>
            <a:r>
              <a:rPr lang="en-US" sz="4400" dirty="0">
                <a:uFill>
                  <a:solidFill/>
                </a:uFill>
                <a:latin typeface="Abadi MT Condensed Light" charset="0"/>
                <a:ea typeface="Abadi MT Condensed Light" charset="0"/>
                <a:cs typeface="Abadi MT Condensed Light" charset="0"/>
              </a:rPr>
              <a:t>on Canvas!</a:t>
            </a:r>
            <a:endParaRPr sz="4400" dirty="0">
              <a:uFill>
                <a:solidFill/>
              </a:uFill>
              <a:latin typeface="Abadi MT Condensed Light" charset="0"/>
              <a:ea typeface="Abadi MT Condensed Light" charset="0"/>
              <a:cs typeface="Abadi MT Condensed Light" charset="0"/>
            </a:endParaRPr>
          </a:p>
        </p:txBody>
      </p:sp>
      <p:sp>
        <p:nvSpPr>
          <p:cNvPr id="19" name="Shape 19"/>
          <p:cNvSpPr>
            <a:spLocks noGrp="1"/>
          </p:cNvSpPr>
          <p:nvPr>
            <p:ph type="body" idx="1"/>
          </p:nvPr>
        </p:nvSpPr>
        <p:spPr>
          <a:xfrm>
            <a:off x="685800" y="1701800"/>
            <a:ext cx="3886200" cy="5130800"/>
          </a:xfrm>
          <a:prstGeom prst="rect">
            <a:avLst/>
          </a:prstGeom>
        </p:spPr>
        <p:txBody>
          <a:bodyPr/>
          <a:lstStyle/>
          <a:p>
            <a:pPr lvl="0">
              <a:buClr>
                <a:srgbClr val="000000"/>
              </a:buClr>
              <a:buSzTx/>
              <a:buFont typeface="Arial"/>
              <a:buNone/>
              <a:defRPr sz="1800">
                <a:uFillTx/>
              </a:defRPr>
            </a:pPr>
            <a:r>
              <a:rPr sz="2400" dirty="0">
                <a:uFill>
                  <a:solidFill/>
                </a:uFill>
                <a:latin typeface="Abadi MT Condensed Light" charset="0"/>
                <a:ea typeface="Abadi MT Condensed Light" charset="0"/>
                <a:cs typeface="Abadi MT Condensed Light" charset="0"/>
              </a:rPr>
              <a:t>Info on:</a:t>
            </a:r>
          </a:p>
          <a:p>
            <a:pPr lvl="1">
              <a:buClr>
                <a:srgbClr val="000000"/>
              </a:buClr>
              <a:buFont typeface="Arial"/>
              <a:defRPr sz="1800">
                <a:uFillTx/>
              </a:defRPr>
            </a:pPr>
            <a:r>
              <a:rPr sz="2400" dirty="0">
                <a:uFill>
                  <a:solidFill/>
                </a:uFill>
                <a:latin typeface="Abadi MT Condensed Light" charset="0"/>
                <a:ea typeface="Abadi MT Condensed Light" charset="0"/>
                <a:cs typeface="Abadi MT Condensed Light" charset="0"/>
              </a:rPr>
              <a:t>Staff</a:t>
            </a:r>
          </a:p>
          <a:p>
            <a:pPr lvl="1">
              <a:buClr>
                <a:srgbClr val="000000"/>
              </a:buClr>
              <a:buFont typeface="Arial"/>
              <a:defRPr sz="1800">
                <a:uFillTx/>
              </a:defRPr>
            </a:pPr>
            <a:r>
              <a:rPr sz="2400" dirty="0">
                <a:uFill>
                  <a:solidFill/>
                </a:uFill>
                <a:latin typeface="Abadi MT Condensed Light" charset="0"/>
                <a:ea typeface="Abadi MT Condensed Light" charset="0"/>
                <a:cs typeface="Abadi MT Condensed Light" charset="0"/>
              </a:rPr>
              <a:t>Communications</a:t>
            </a:r>
          </a:p>
          <a:p>
            <a:pPr lvl="1">
              <a:buClr>
                <a:srgbClr val="000000"/>
              </a:buClr>
              <a:buFont typeface="Arial"/>
              <a:defRPr sz="1800">
                <a:uFillTx/>
              </a:defRPr>
            </a:pPr>
            <a:r>
              <a:rPr sz="2400" dirty="0">
                <a:uFill>
                  <a:solidFill/>
                </a:uFill>
                <a:latin typeface="Abadi MT Condensed Light" charset="0"/>
                <a:ea typeface="Abadi MT Condensed Light" charset="0"/>
                <a:cs typeface="Abadi MT Condensed Light" charset="0"/>
              </a:rPr>
              <a:t>Lab sections</a:t>
            </a:r>
          </a:p>
          <a:p>
            <a:pPr lvl="1">
              <a:buClr>
                <a:srgbClr val="000000"/>
              </a:buClr>
              <a:buFont typeface="Arial"/>
              <a:defRPr sz="1800">
                <a:uFillTx/>
              </a:defRPr>
            </a:pPr>
            <a:r>
              <a:rPr lang="en-US" sz="2400" dirty="0">
                <a:uFill>
                  <a:solidFill/>
                </a:uFill>
                <a:latin typeface="Abadi MT Condensed Light" charset="0"/>
                <a:ea typeface="Abadi MT Condensed Light" charset="0"/>
                <a:cs typeface="Abadi MT Condensed Light" charset="0"/>
              </a:rPr>
              <a:t>PAs</a:t>
            </a:r>
            <a:endParaRPr sz="2400" dirty="0">
              <a:uFill>
                <a:solidFill/>
              </a:uFill>
              <a:latin typeface="Abadi MT Condensed Light" charset="0"/>
              <a:ea typeface="Abadi MT Condensed Light" charset="0"/>
              <a:cs typeface="Abadi MT Condensed Light" charset="0"/>
            </a:endParaRPr>
          </a:p>
          <a:p>
            <a:pPr lvl="1">
              <a:buClr>
                <a:srgbClr val="000000"/>
              </a:buClr>
              <a:buFont typeface="Arial"/>
              <a:defRPr sz="1800">
                <a:uFillTx/>
              </a:defRPr>
            </a:pPr>
            <a:r>
              <a:rPr sz="2400" dirty="0">
                <a:uFill>
                  <a:solidFill/>
                </a:uFill>
                <a:latin typeface="Abadi MT Condensed Light" charset="0"/>
                <a:ea typeface="Abadi MT Condensed Light" charset="0"/>
                <a:cs typeface="Abadi MT Condensed Light" charset="0"/>
              </a:rPr>
              <a:t>Exams</a:t>
            </a:r>
            <a:r>
              <a:rPr lang="en-US" sz="2400" dirty="0">
                <a:uFill>
                  <a:solidFill/>
                </a:uFill>
                <a:latin typeface="Abadi MT Condensed Light" charset="0"/>
                <a:ea typeface="Abadi MT Condensed Light" charset="0"/>
                <a:cs typeface="Abadi MT Condensed Light" charset="0"/>
              </a:rPr>
              <a:t> </a:t>
            </a:r>
            <a:endParaRPr sz="2400" dirty="0">
              <a:uFill>
                <a:solidFill/>
              </a:uFill>
              <a:latin typeface="Abadi MT Condensed Light" charset="0"/>
              <a:ea typeface="Abadi MT Condensed Light" charset="0"/>
              <a:cs typeface="Abadi MT Condensed Light" charset="0"/>
            </a:endParaRPr>
          </a:p>
          <a:p>
            <a:pPr lvl="1">
              <a:buClr>
                <a:srgbClr val="000000"/>
              </a:buClr>
              <a:buFont typeface="Arial"/>
              <a:defRPr sz="1800">
                <a:uFillTx/>
              </a:defRPr>
            </a:pPr>
            <a:r>
              <a:rPr lang="en-US" sz="2400" dirty="0">
                <a:uFill>
                  <a:solidFill/>
                </a:uFill>
                <a:latin typeface="Abadi MT Condensed Light" charset="0"/>
                <a:ea typeface="Abadi MT Condensed Light" charset="0"/>
                <a:cs typeface="Abadi MT Condensed Light" charset="0"/>
              </a:rPr>
              <a:t>Marking</a:t>
            </a:r>
            <a:endParaRPr sz="2400" dirty="0">
              <a:uFill>
                <a:solidFill/>
              </a:uFill>
              <a:latin typeface="Abadi MT Condensed Light" charset="0"/>
              <a:ea typeface="Abadi MT Condensed Light" charset="0"/>
              <a:cs typeface="Abadi MT Condensed Light" charset="0"/>
            </a:endParaRPr>
          </a:p>
          <a:p>
            <a:pPr lvl="1">
              <a:buClr>
                <a:srgbClr val="000000"/>
              </a:buClr>
              <a:buFont typeface="Arial"/>
              <a:defRPr sz="1800">
                <a:uFillTx/>
              </a:defRPr>
            </a:pPr>
            <a:r>
              <a:rPr sz="2400" dirty="0">
                <a:uFill>
                  <a:solidFill/>
                </a:uFill>
                <a:latin typeface="Abadi MT Condensed Light" charset="0"/>
                <a:ea typeface="Abadi MT Condensed Light" charset="0"/>
                <a:cs typeface="Abadi MT Condensed Light" charset="0"/>
              </a:rPr>
              <a:t>Academic Integrity</a:t>
            </a:r>
            <a:endParaRPr lang="en-US" sz="2400" dirty="0">
              <a:uFill>
                <a:solidFill/>
              </a:uFill>
              <a:latin typeface="Abadi MT Condensed Light" charset="0"/>
              <a:ea typeface="Abadi MT Condensed Light" charset="0"/>
              <a:cs typeface="Abadi MT Condensed Light" charset="0"/>
            </a:endParaRPr>
          </a:p>
        </p:txBody>
      </p:sp>
      <p:sp>
        <p:nvSpPr>
          <p:cNvPr id="4" name="Shape 19">
            <a:extLst>
              <a:ext uri="{FF2B5EF4-FFF2-40B4-BE49-F238E27FC236}">
                <a16:creationId xmlns:a16="http://schemas.microsoft.com/office/drawing/2014/main" id="{B99A10BD-ACA9-1D4F-BD09-1616573D3321}"/>
              </a:ext>
            </a:extLst>
          </p:cNvPr>
          <p:cNvSpPr txBox="1">
            <a:spLocks/>
          </p:cNvSpPr>
          <p:nvPr/>
        </p:nvSpPr>
        <p:spPr>
          <a:xfrm>
            <a:off x="4572000" y="1701800"/>
            <a:ext cx="4315968" cy="513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/>
          <a:lstStyle>
            <a:lvl1pPr marL="383540" marR="40639" indent="-342900">
              <a:spcBef>
                <a:spcPts val="700"/>
              </a:spcBef>
              <a:buSzPct val="100000"/>
              <a:buChar char="•"/>
              <a:defRPr sz="3200">
                <a:uFill>
                  <a:solidFill/>
                </a:uFill>
                <a:latin typeface="+mn-lt"/>
                <a:ea typeface="+mn-ea"/>
                <a:cs typeface="+mn-cs"/>
                <a:sym typeface="Arial"/>
              </a:defRPr>
            </a:lvl1pPr>
            <a:lvl2pPr marL="783590" marR="40639" indent="-285750">
              <a:spcBef>
                <a:spcPts val="600"/>
              </a:spcBef>
              <a:buSzPct val="100000"/>
              <a:buChar char="–"/>
              <a:defRPr sz="2800">
                <a:uFill>
                  <a:solidFill/>
                </a:uFill>
                <a:latin typeface="+mn-lt"/>
                <a:ea typeface="+mn-ea"/>
                <a:cs typeface="+mn-cs"/>
                <a:sym typeface="Arial"/>
              </a:defRPr>
            </a:lvl2pPr>
            <a:lvl3pPr marL="1183639" marR="40639" indent="-228600">
              <a:spcBef>
                <a:spcPts val="500"/>
              </a:spcBef>
              <a:buSzPct val="100000"/>
              <a:buChar char="•"/>
              <a:defRPr sz="2400">
                <a:uFill>
                  <a:solidFill/>
                </a:uFill>
                <a:latin typeface="+mn-lt"/>
                <a:ea typeface="+mn-ea"/>
                <a:cs typeface="+mn-cs"/>
                <a:sym typeface="Arial"/>
              </a:defRPr>
            </a:lvl3pPr>
            <a:lvl4pPr marL="1640839" marR="40639" indent="-228600">
              <a:spcBef>
                <a:spcPts val="400"/>
              </a:spcBef>
              <a:buSzPct val="100000"/>
              <a:buChar char="–"/>
              <a:defRPr sz="2000">
                <a:uFill>
                  <a:solidFill/>
                </a:uFill>
                <a:latin typeface="+mn-lt"/>
                <a:ea typeface="+mn-ea"/>
                <a:cs typeface="+mn-cs"/>
                <a:sym typeface="Arial"/>
              </a:defRPr>
            </a:lvl4pPr>
            <a:lvl5pPr marL="2098039" marR="40639" indent="-228600">
              <a:spcBef>
                <a:spcPts val="400"/>
              </a:spcBef>
              <a:buSzPct val="100000"/>
              <a:buChar char="»"/>
              <a:defRPr sz="2000">
                <a:uFill>
                  <a:solidFill/>
                </a:uFill>
                <a:latin typeface="+mn-lt"/>
                <a:ea typeface="+mn-ea"/>
                <a:cs typeface="+mn-cs"/>
                <a:sym typeface="Arial"/>
              </a:defRPr>
            </a:lvl5pPr>
            <a:lvl6pPr marL="2235200" marR="40639" indent="-365760">
              <a:spcBef>
                <a:spcPts val="700"/>
              </a:spcBef>
              <a:buSzPct val="100000"/>
              <a:buChar char="•"/>
              <a:defRPr sz="3200">
                <a:uFill>
                  <a:solidFill/>
                </a:uFill>
                <a:latin typeface="+mn-lt"/>
                <a:ea typeface="+mn-ea"/>
                <a:cs typeface="+mn-cs"/>
                <a:sym typeface="Arial"/>
              </a:defRPr>
            </a:lvl6pPr>
            <a:lvl7pPr marL="2235200" marR="40639" indent="-365760">
              <a:spcBef>
                <a:spcPts val="700"/>
              </a:spcBef>
              <a:buSzPct val="100000"/>
              <a:buChar char="•"/>
              <a:defRPr sz="3200">
                <a:uFill>
                  <a:solidFill/>
                </a:uFill>
                <a:latin typeface="+mn-lt"/>
                <a:ea typeface="+mn-ea"/>
                <a:cs typeface="+mn-cs"/>
                <a:sym typeface="Arial"/>
              </a:defRPr>
            </a:lvl7pPr>
            <a:lvl8pPr marL="2235200" marR="40639" indent="-365760">
              <a:spcBef>
                <a:spcPts val="700"/>
              </a:spcBef>
              <a:buSzPct val="100000"/>
              <a:buChar char="•"/>
              <a:defRPr sz="3200">
                <a:uFill>
                  <a:solidFill/>
                </a:uFill>
                <a:latin typeface="+mn-lt"/>
                <a:ea typeface="+mn-ea"/>
                <a:cs typeface="+mn-cs"/>
                <a:sym typeface="Arial"/>
              </a:defRPr>
            </a:lvl8pPr>
            <a:lvl9pPr marL="2235200" marR="40639" indent="-365760">
              <a:spcBef>
                <a:spcPts val="700"/>
              </a:spcBef>
              <a:buSzPct val="100000"/>
              <a:buChar char="•"/>
              <a:defRPr sz="3200">
                <a:uFill>
                  <a:solidFill/>
                </a:u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>
              <a:buClr>
                <a:srgbClr val="000000"/>
              </a:buClr>
              <a:buSzTx/>
              <a:buFont typeface="Arial"/>
              <a:buNone/>
              <a:defRPr sz="1800">
                <a:uFillTx/>
              </a:defRPr>
            </a:pPr>
            <a:r>
              <a:rPr lang="en-US" sz="2400" dirty="0">
                <a:latin typeface="Abadi MT Condensed Light" charset="0"/>
                <a:ea typeface="Abadi MT Condensed Light" charset="0"/>
                <a:cs typeface="Abadi MT Condensed Light" charset="0"/>
              </a:rPr>
              <a:t>PAs – out Fri, Due Mon after 2wk</a:t>
            </a:r>
          </a:p>
          <a:p>
            <a:pPr>
              <a:buClr>
                <a:srgbClr val="000000"/>
              </a:buClr>
              <a:buSzTx/>
              <a:buFont typeface="Arial"/>
              <a:buNone/>
              <a:defRPr sz="1800">
                <a:uFillTx/>
              </a:defRPr>
            </a:pPr>
            <a:r>
              <a:rPr lang="en-US" sz="2400" dirty="0">
                <a:latin typeface="Abadi MT Condensed Light" charset="0"/>
                <a:ea typeface="Abadi MT Condensed Light" charset="0"/>
                <a:cs typeface="Abadi MT Condensed Light" charset="0"/>
              </a:rPr>
              <a:t>HWs – out Fri, Due Mon after 1wk</a:t>
            </a:r>
          </a:p>
          <a:p>
            <a:pPr>
              <a:buClr>
                <a:srgbClr val="000000"/>
              </a:buClr>
              <a:buSzTx/>
              <a:buFont typeface="Arial"/>
              <a:buNone/>
              <a:defRPr sz="1800">
                <a:uFillTx/>
              </a:defRPr>
            </a:pPr>
            <a:r>
              <a:rPr lang="en-US" sz="2400" dirty="0">
                <a:latin typeface="Abadi MT Condensed Light" charset="0"/>
                <a:ea typeface="Abadi MT Condensed Light" charset="0"/>
                <a:cs typeface="Abadi MT Condensed Light" charset="0"/>
              </a:rPr>
              <a:t>Labs – once a week, av Sun-Sun</a:t>
            </a:r>
          </a:p>
          <a:p>
            <a:pPr>
              <a:buClr>
                <a:srgbClr val="000000"/>
              </a:buClr>
              <a:buSzTx/>
              <a:buFont typeface="Arial"/>
              <a:buNone/>
              <a:defRPr sz="1800">
                <a:uFillTx/>
              </a:defRPr>
            </a:pPr>
            <a:r>
              <a:rPr lang="en-US" sz="2400" dirty="0">
                <a:latin typeface="Abadi MT Condensed Light" charset="0"/>
                <a:ea typeface="Abadi MT Condensed Light" charset="0"/>
                <a:cs typeface="Abadi MT Condensed Light" charset="0"/>
              </a:rPr>
              <a:t>Exams – 45min within Fri 12-3p</a:t>
            </a:r>
          </a:p>
          <a:p>
            <a:pPr>
              <a:buClr>
                <a:srgbClr val="000000"/>
              </a:buClr>
              <a:buSzTx/>
              <a:buFont typeface="Arial"/>
              <a:buNone/>
              <a:defRPr sz="1800">
                <a:uFillTx/>
              </a:defRPr>
            </a:pPr>
            <a:r>
              <a:rPr lang="en-US" sz="2400" dirty="0">
                <a:latin typeface="Abadi MT Condensed Light" charset="0"/>
                <a:ea typeface="Abadi MT Condensed Light" charset="0"/>
                <a:cs typeface="Abadi MT Condensed Light" charset="0"/>
              </a:rPr>
              <a:t>Class Meetings – MW 10-11a, via ZOOM</a:t>
            </a:r>
          </a:p>
        </p:txBody>
      </p:sp>
      <p:sp>
        <p:nvSpPr>
          <p:cNvPr id="6" name="Shape 18">
            <a:extLst>
              <a:ext uri="{FF2B5EF4-FFF2-40B4-BE49-F238E27FC236}">
                <a16:creationId xmlns:a16="http://schemas.microsoft.com/office/drawing/2014/main" id="{9FB35A0E-3D4B-0D49-A07B-0B9C0965E066}"/>
              </a:ext>
            </a:extLst>
          </p:cNvPr>
          <p:cNvSpPr txBox="1">
            <a:spLocks/>
          </p:cNvSpPr>
          <p:nvPr/>
        </p:nvSpPr>
        <p:spPr>
          <a:xfrm>
            <a:off x="685800" y="5156200"/>
            <a:ext cx="5651500" cy="1600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 marL="40639" marR="40639" algn="l">
              <a:defRPr sz="4400">
                <a:uFill>
                  <a:solidFill/>
                </a:uFill>
                <a:latin typeface="+mn-lt"/>
                <a:ea typeface="+mn-ea"/>
                <a:cs typeface="+mn-cs"/>
                <a:sym typeface="Arial"/>
              </a:defRPr>
            </a:lvl1pPr>
            <a:lvl2pPr marL="40639" marR="40639" indent="228600" algn="ctr">
              <a:defRPr sz="4400">
                <a:uFill>
                  <a:solidFill/>
                </a:uFill>
                <a:latin typeface="+mn-lt"/>
                <a:ea typeface="+mn-ea"/>
                <a:cs typeface="+mn-cs"/>
                <a:sym typeface="Arial"/>
              </a:defRPr>
            </a:lvl2pPr>
            <a:lvl3pPr marL="40639" marR="40639" indent="457200" algn="ctr">
              <a:defRPr sz="4400">
                <a:uFill>
                  <a:solidFill/>
                </a:uFill>
                <a:latin typeface="+mn-lt"/>
                <a:ea typeface="+mn-ea"/>
                <a:cs typeface="+mn-cs"/>
                <a:sym typeface="Arial"/>
              </a:defRPr>
            </a:lvl3pPr>
            <a:lvl4pPr marL="40639" marR="40639" indent="685800" algn="ctr">
              <a:defRPr sz="4400">
                <a:uFill>
                  <a:solidFill/>
                </a:uFill>
                <a:latin typeface="+mn-lt"/>
                <a:ea typeface="+mn-ea"/>
                <a:cs typeface="+mn-cs"/>
                <a:sym typeface="Arial"/>
              </a:defRPr>
            </a:lvl4pPr>
            <a:lvl5pPr marL="40639" marR="40639" indent="914400" algn="ctr">
              <a:defRPr sz="4400">
                <a:uFill>
                  <a:solidFill/>
                </a:uFill>
                <a:latin typeface="+mn-lt"/>
                <a:ea typeface="+mn-ea"/>
                <a:cs typeface="+mn-cs"/>
                <a:sym typeface="Arial"/>
              </a:defRPr>
            </a:lvl5pPr>
            <a:lvl6pPr marL="40639" marR="40639" indent="1143000" algn="ctr">
              <a:defRPr sz="4400">
                <a:uFill>
                  <a:solidFill/>
                </a:uFill>
                <a:latin typeface="+mn-lt"/>
                <a:ea typeface="+mn-ea"/>
                <a:cs typeface="+mn-cs"/>
                <a:sym typeface="Arial"/>
              </a:defRPr>
            </a:lvl6pPr>
            <a:lvl7pPr marL="40639" marR="40639" indent="1371600" algn="ctr">
              <a:defRPr sz="4400">
                <a:uFill>
                  <a:solidFill/>
                </a:uFill>
                <a:latin typeface="+mn-lt"/>
                <a:ea typeface="+mn-ea"/>
                <a:cs typeface="+mn-cs"/>
                <a:sym typeface="Arial"/>
              </a:defRPr>
            </a:lvl7pPr>
            <a:lvl8pPr marL="40639" marR="40639" indent="1600200" algn="ctr">
              <a:defRPr sz="4400">
                <a:uFill>
                  <a:solidFill/>
                </a:uFill>
                <a:latin typeface="+mn-lt"/>
                <a:ea typeface="+mn-ea"/>
                <a:cs typeface="+mn-cs"/>
                <a:sym typeface="Arial"/>
              </a:defRPr>
            </a:lvl8pPr>
            <a:lvl9pPr marL="40639" marR="40639" indent="1828800" algn="ctr">
              <a:defRPr sz="4400">
                <a:uFill>
                  <a:solidFill/>
                </a:u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en-US" sz="2400" dirty="0">
                <a:latin typeface="Abadi MT Condensed Light" panose="020B0306030101010103" pitchFamily="34" charset="77"/>
              </a:rPr>
              <a:t>https://</a:t>
            </a:r>
            <a:r>
              <a:rPr lang="en-US" sz="2400" dirty="0" err="1">
                <a:latin typeface="Abadi MT Condensed Light" panose="020B0306030101010103" pitchFamily="34" charset="77"/>
              </a:rPr>
              <a:t>canvas.ubc.ca</a:t>
            </a:r>
            <a:r>
              <a:rPr lang="en-US" sz="2400" dirty="0">
                <a:latin typeface="Abadi MT Condensed Light" panose="020B0306030101010103" pitchFamily="34" charset="77"/>
              </a:rPr>
              <a:t>/courses/58963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1E9AF39-AC45-404C-AA71-6A8C599116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5270090"/>
              </p:ext>
            </p:extLst>
          </p:nvPr>
        </p:nvGraphicFramePr>
        <p:xfrm>
          <a:off x="4572000" y="787021"/>
          <a:ext cx="4271760" cy="574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970">
                  <a:extLst>
                    <a:ext uri="{9D8B030D-6E8A-4147-A177-3AD203B41FA5}">
                      <a16:colId xmlns:a16="http://schemas.microsoft.com/office/drawing/2014/main" val="2265684844"/>
                    </a:ext>
                  </a:extLst>
                </a:gridCol>
                <a:gridCol w="533970">
                  <a:extLst>
                    <a:ext uri="{9D8B030D-6E8A-4147-A177-3AD203B41FA5}">
                      <a16:colId xmlns:a16="http://schemas.microsoft.com/office/drawing/2014/main" val="826231321"/>
                    </a:ext>
                  </a:extLst>
                </a:gridCol>
                <a:gridCol w="533970">
                  <a:extLst>
                    <a:ext uri="{9D8B030D-6E8A-4147-A177-3AD203B41FA5}">
                      <a16:colId xmlns:a16="http://schemas.microsoft.com/office/drawing/2014/main" val="3671379332"/>
                    </a:ext>
                  </a:extLst>
                </a:gridCol>
                <a:gridCol w="533970">
                  <a:extLst>
                    <a:ext uri="{9D8B030D-6E8A-4147-A177-3AD203B41FA5}">
                      <a16:colId xmlns:a16="http://schemas.microsoft.com/office/drawing/2014/main" val="911458583"/>
                    </a:ext>
                  </a:extLst>
                </a:gridCol>
                <a:gridCol w="533970">
                  <a:extLst>
                    <a:ext uri="{9D8B030D-6E8A-4147-A177-3AD203B41FA5}">
                      <a16:colId xmlns:a16="http://schemas.microsoft.com/office/drawing/2014/main" val="2623240840"/>
                    </a:ext>
                  </a:extLst>
                </a:gridCol>
                <a:gridCol w="533970">
                  <a:extLst>
                    <a:ext uri="{9D8B030D-6E8A-4147-A177-3AD203B41FA5}">
                      <a16:colId xmlns:a16="http://schemas.microsoft.com/office/drawing/2014/main" val="3053076707"/>
                    </a:ext>
                  </a:extLst>
                </a:gridCol>
                <a:gridCol w="533970">
                  <a:extLst>
                    <a:ext uri="{9D8B030D-6E8A-4147-A177-3AD203B41FA5}">
                      <a16:colId xmlns:a16="http://schemas.microsoft.com/office/drawing/2014/main" val="2957969754"/>
                    </a:ext>
                  </a:extLst>
                </a:gridCol>
                <a:gridCol w="533970">
                  <a:extLst>
                    <a:ext uri="{9D8B030D-6E8A-4147-A177-3AD203B41FA5}">
                      <a16:colId xmlns:a16="http://schemas.microsoft.com/office/drawing/2014/main" val="34571758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Week</a:t>
                      </a:r>
                      <a:endParaRPr lang="en-CA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PA / HW due</a:t>
                      </a:r>
                      <a:endParaRPr lang="en-CA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lab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  <a:endParaRPr lang="en-CA" dirty="0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endParaRPr lang="en-CA" dirty="0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  <a:endParaRPr lang="en-CA" dirty="0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</a:t>
                      </a:r>
                      <a:endParaRPr lang="en-CA" dirty="0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  <a:endParaRPr lang="en-CA" dirty="0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8729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en-CA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  <a:endParaRPr lang="en-CA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en-CA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0691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</a:t>
                      </a:r>
                      <a:endParaRPr lang="en-CA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</a:t>
                      </a:r>
                      <a:endParaRPr lang="en-CA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</a:t>
                      </a:r>
                      <a:endParaRPr lang="en-CA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  <a:endParaRPr lang="en-CA" dirty="0"/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02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en-CA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en-CA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en-CA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en-CA" dirty="0"/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466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  <a:endParaRPr lang="en-CA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  <a:endParaRPr lang="en-CA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  <a:endParaRPr lang="en-CA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en-CA" dirty="0"/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3754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  <a:endParaRPr lang="en-CA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</a:t>
                      </a:r>
                      <a:endParaRPr lang="en-CA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  <a:endParaRPr lang="en-CA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  <a:endParaRPr lang="en-CA" dirty="0"/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6370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CA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CA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584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READING BREAK</a:t>
                      </a:r>
                      <a:endParaRPr lang="en-CA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5764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L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465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E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475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T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7956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3354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S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924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459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dirty="0">
                          <a:sym typeface="Wingdings" pitchFamily="2" charset="2"/>
                        </a:rPr>
                        <a:t></a:t>
                      </a:r>
                      <a:endParaRPr lang="en-CA" dirty="0"/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839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1602806"/>
                  </a:ext>
                </a:extLst>
              </a:tr>
            </a:tbl>
          </a:graphicData>
        </a:graphic>
      </p:graphicFrame>
      <p:sp>
        <p:nvSpPr>
          <p:cNvPr id="8" name="Shape 19">
            <a:extLst>
              <a:ext uri="{FF2B5EF4-FFF2-40B4-BE49-F238E27FC236}">
                <a16:creationId xmlns:a16="http://schemas.microsoft.com/office/drawing/2014/main" id="{ABD0B6B2-7E65-C347-A17C-DA7114E9F041}"/>
              </a:ext>
            </a:extLst>
          </p:cNvPr>
          <p:cNvSpPr txBox="1">
            <a:spLocks/>
          </p:cNvSpPr>
          <p:nvPr/>
        </p:nvSpPr>
        <p:spPr>
          <a:xfrm>
            <a:off x="232219" y="1142892"/>
            <a:ext cx="3879553" cy="5489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/>
          <a:lstStyle>
            <a:lvl1pPr marL="383540" marR="40639" indent="-342900">
              <a:spcBef>
                <a:spcPts val="700"/>
              </a:spcBef>
              <a:buSzPct val="100000"/>
              <a:buChar char="•"/>
              <a:defRPr sz="3200">
                <a:uFill>
                  <a:solidFill/>
                </a:uFill>
                <a:latin typeface="+mn-lt"/>
                <a:ea typeface="+mn-ea"/>
                <a:cs typeface="+mn-cs"/>
                <a:sym typeface="Arial"/>
              </a:defRPr>
            </a:lvl1pPr>
            <a:lvl2pPr marL="783590" marR="40639" indent="-285750">
              <a:spcBef>
                <a:spcPts val="600"/>
              </a:spcBef>
              <a:buSzPct val="100000"/>
              <a:buChar char="–"/>
              <a:defRPr sz="2800">
                <a:uFill>
                  <a:solidFill/>
                </a:uFill>
                <a:latin typeface="+mn-lt"/>
                <a:ea typeface="+mn-ea"/>
                <a:cs typeface="+mn-cs"/>
                <a:sym typeface="Arial"/>
              </a:defRPr>
            </a:lvl2pPr>
            <a:lvl3pPr marL="1183639" marR="40639" indent="-228600">
              <a:spcBef>
                <a:spcPts val="500"/>
              </a:spcBef>
              <a:buSzPct val="100000"/>
              <a:buChar char="•"/>
              <a:defRPr sz="2400">
                <a:uFill>
                  <a:solidFill/>
                </a:uFill>
                <a:latin typeface="+mn-lt"/>
                <a:ea typeface="+mn-ea"/>
                <a:cs typeface="+mn-cs"/>
                <a:sym typeface="Arial"/>
              </a:defRPr>
            </a:lvl3pPr>
            <a:lvl4pPr marL="1640839" marR="40639" indent="-228600">
              <a:spcBef>
                <a:spcPts val="400"/>
              </a:spcBef>
              <a:buSzPct val="100000"/>
              <a:buChar char="–"/>
              <a:defRPr sz="2000">
                <a:uFill>
                  <a:solidFill/>
                </a:uFill>
                <a:latin typeface="+mn-lt"/>
                <a:ea typeface="+mn-ea"/>
                <a:cs typeface="+mn-cs"/>
                <a:sym typeface="Arial"/>
              </a:defRPr>
            </a:lvl4pPr>
            <a:lvl5pPr marL="2098039" marR="40639" indent="-228600">
              <a:spcBef>
                <a:spcPts val="400"/>
              </a:spcBef>
              <a:buSzPct val="100000"/>
              <a:buChar char="»"/>
              <a:defRPr sz="2000">
                <a:uFill>
                  <a:solidFill/>
                </a:uFill>
                <a:latin typeface="+mn-lt"/>
                <a:ea typeface="+mn-ea"/>
                <a:cs typeface="+mn-cs"/>
                <a:sym typeface="Arial"/>
              </a:defRPr>
            </a:lvl5pPr>
            <a:lvl6pPr marL="2235200" marR="40639" indent="-365760">
              <a:spcBef>
                <a:spcPts val="700"/>
              </a:spcBef>
              <a:buSzPct val="100000"/>
              <a:buChar char="•"/>
              <a:defRPr sz="3200">
                <a:uFill>
                  <a:solidFill/>
                </a:uFill>
                <a:latin typeface="+mn-lt"/>
                <a:ea typeface="+mn-ea"/>
                <a:cs typeface="+mn-cs"/>
                <a:sym typeface="Arial"/>
              </a:defRPr>
            </a:lvl6pPr>
            <a:lvl7pPr marL="2235200" marR="40639" indent="-365760">
              <a:spcBef>
                <a:spcPts val="700"/>
              </a:spcBef>
              <a:buSzPct val="100000"/>
              <a:buChar char="•"/>
              <a:defRPr sz="3200">
                <a:uFill>
                  <a:solidFill/>
                </a:uFill>
                <a:latin typeface="+mn-lt"/>
                <a:ea typeface="+mn-ea"/>
                <a:cs typeface="+mn-cs"/>
                <a:sym typeface="Arial"/>
              </a:defRPr>
            </a:lvl7pPr>
            <a:lvl8pPr marL="2235200" marR="40639" indent="-365760">
              <a:spcBef>
                <a:spcPts val="700"/>
              </a:spcBef>
              <a:buSzPct val="100000"/>
              <a:buChar char="•"/>
              <a:defRPr sz="3200">
                <a:uFill>
                  <a:solidFill/>
                </a:uFill>
                <a:latin typeface="+mn-lt"/>
                <a:ea typeface="+mn-ea"/>
                <a:cs typeface="+mn-cs"/>
                <a:sym typeface="Arial"/>
              </a:defRPr>
            </a:lvl8pPr>
            <a:lvl9pPr marL="2235200" marR="40639" indent="-365760">
              <a:spcBef>
                <a:spcPts val="700"/>
              </a:spcBef>
              <a:buSzPct val="100000"/>
              <a:buChar char="•"/>
              <a:defRPr sz="3200">
                <a:uFill>
                  <a:solidFill/>
                </a:u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>
              <a:buClr>
                <a:srgbClr val="000000"/>
              </a:buClr>
              <a:buSzTx/>
              <a:buNone/>
              <a:defRPr sz="1800">
                <a:uFillTx/>
              </a:defRPr>
            </a:pPr>
            <a:r>
              <a:rPr lang="en-US" sz="2400" dirty="0">
                <a:ea typeface="Abadi MT Condensed Light" charset="0"/>
                <a:cs typeface="Abadi MT Condensed Light" charset="0"/>
              </a:rPr>
              <a:t>Class Meetings</a:t>
            </a:r>
          </a:p>
          <a:p>
            <a:pPr>
              <a:buClr>
                <a:srgbClr val="000000"/>
              </a:buClr>
              <a:buSzTx/>
              <a:defRPr sz="1800">
                <a:uFillTx/>
              </a:defRPr>
            </a:pPr>
            <a:r>
              <a:rPr lang="en-US" sz="1800" dirty="0">
                <a:ea typeface="Abadi MT Condensed Light" charset="0"/>
                <a:cs typeface="Abadi MT Condensed Light" charset="0"/>
              </a:rPr>
              <a:t>Mon/Wed via Zoom</a:t>
            </a:r>
          </a:p>
          <a:p>
            <a:pPr>
              <a:buClr>
                <a:srgbClr val="000000"/>
              </a:buClr>
              <a:buSzTx/>
              <a:defRPr sz="1800">
                <a:uFillTx/>
              </a:defRPr>
            </a:pPr>
            <a:r>
              <a:rPr lang="en-US" sz="1800" dirty="0">
                <a:ea typeface="Abadi MT Condensed Light" charset="0"/>
                <a:cs typeface="Abadi MT Condensed Light" charset="0"/>
              </a:rPr>
              <a:t>Tue Videos </a:t>
            </a:r>
          </a:p>
          <a:p>
            <a:pPr>
              <a:buClr>
                <a:srgbClr val="000000"/>
              </a:buClr>
              <a:buSzTx/>
              <a:buFont typeface="Arial"/>
              <a:buNone/>
              <a:defRPr sz="1800">
                <a:uFillTx/>
              </a:defRPr>
            </a:pPr>
            <a:r>
              <a:rPr lang="en-US" sz="2400" dirty="0">
                <a:ea typeface="Abadi MT Condensed Light" charset="0"/>
                <a:cs typeface="Abadi MT Condensed Light" charset="0"/>
              </a:rPr>
              <a:t>Programming Assignments</a:t>
            </a:r>
          </a:p>
          <a:p>
            <a:pPr>
              <a:buClr>
                <a:srgbClr val="000000"/>
              </a:buClr>
              <a:buSzTx/>
              <a:defRPr sz="1800">
                <a:uFillTx/>
              </a:defRPr>
            </a:pPr>
            <a:r>
              <a:rPr lang="en-US" sz="1800" dirty="0">
                <a:ea typeface="Abadi MT Condensed Light" charset="0"/>
                <a:cs typeface="Abadi MT Condensed Light" charset="0"/>
              </a:rPr>
              <a:t>out Fri(</a:t>
            </a:r>
            <a:r>
              <a:rPr lang="en-US" sz="1800" dirty="0" err="1">
                <a:ea typeface="Abadi MT Condensed Light" charset="0"/>
                <a:cs typeface="Abadi MT Condensed Light" charset="0"/>
              </a:rPr>
              <a:t>ish</a:t>
            </a:r>
            <a:r>
              <a:rPr lang="en-US" sz="1800" dirty="0">
                <a:ea typeface="Abadi MT Condensed Light" charset="0"/>
                <a:cs typeface="Abadi MT Condensed Light" charset="0"/>
              </a:rPr>
              <a:t>)</a:t>
            </a:r>
          </a:p>
          <a:p>
            <a:pPr>
              <a:buClr>
                <a:srgbClr val="000000"/>
              </a:buClr>
              <a:buSzTx/>
              <a:defRPr sz="1800">
                <a:uFillTx/>
              </a:defRPr>
            </a:pPr>
            <a:r>
              <a:rPr lang="en-US" sz="1800" dirty="0">
                <a:ea typeface="Abadi MT Condensed Light" charset="0"/>
                <a:cs typeface="Abadi MT Condensed Light" charset="0"/>
              </a:rPr>
              <a:t>due Mon after 2 weeks</a:t>
            </a:r>
          </a:p>
          <a:p>
            <a:pPr>
              <a:buClr>
                <a:srgbClr val="000000"/>
              </a:buClr>
              <a:buSzTx/>
              <a:buFont typeface="Arial"/>
              <a:buNone/>
              <a:defRPr sz="1800">
                <a:uFillTx/>
              </a:defRPr>
            </a:pPr>
            <a:r>
              <a:rPr lang="en-US" sz="2400" dirty="0">
                <a:ea typeface="Abadi MT Condensed Light" charset="0"/>
                <a:cs typeface="Abadi MT Condensed Light" charset="0"/>
              </a:rPr>
              <a:t>Homework</a:t>
            </a:r>
          </a:p>
          <a:p>
            <a:pPr>
              <a:buClr>
                <a:srgbClr val="000000"/>
              </a:buClr>
              <a:buSzTx/>
              <a:defRPr sz="1800">
                <a:uFillTx/>
              </a:defRPr>
            </a:pPr>
            <a:r>
              <a:rPr lang="en-US" sz="1800" dirty="0">
                <a:ea typeface="Abadi MT Condensed Light" charset="0"/>
                <a:cs typeface="Abadi MT Condensed Light" charset="0"/>
              </a:rPr>
              <a:t>out Fri(</a:t>
            </a:r>
            <a:r>
              <a:rPr lang="en-US" sz="1800" dirty="0" err="1">
                <a:ea typeface="Abadi MT Condensed Light" charset="0"/>
                <a:cs typeface="Abadi MT Condensed Light" charset="0"/>
              </a:rPr>
              <a:t>ish</a:t>
            </a:r>
            <a:r>
              <a:rPr lang="en-US" sz="1800" dirty="0">
                <a:ea typeface="Abadi MT Condensed Light" charset="0"/>
                <a:cs typeface="Abadi MT Condensed Light" charset="0"/>
              </a:rPr>
              <a:t>)</a:t>
            </a:r>
          </a:p>
          <a:p>
            <a:pPr>
              <a:buClr>
                <a:srgbClr val="000000"/>
              </a:buClr>
              <a:buSzTx/>
              <a:defRPr sz="1800">
                <a:uFillTx/>
              </a:defRPr>
            </a:pPr>
            <a:r>
              <a:rPr lang="en-US" sz="1800" dirty="0">
                <a:ea typeface="Abadi MT Condensed Light" charset="0"/>
                <a:cs typeface="Abadi MT Condensed Light" charset="0"/>
              </a:rPr>
              <a:t>due Mon after 1 week</a:t>
            </a:r>
          </a:p>
          <a:p>
            <a:pPr>
              <a:buClr>
                <a:srgbClr val="000000"/>
              </a:buClr>
              <a:buSzTx/>
              <a:buFont typeface="Arial"/>
              <a:buNone/>
              <a:defRPr sz="1800">
                <a:uFillTx/>
              </a:defRPr>
            </a:pPr>
            <a:r>
              <a:rPr lang="en-US" sz="2400" dirty="0">
                <a:ea typeface="Abadi MT Condensed Light" charset="0"/>
                <a:cs typeface="Abadi MT Condensed Light" charset="0"/>
              </a:rPr>
              <a:t>Labs</a:t>
            </a:r>
          </a:p>
          <a:p>
            <a:pPr>
              <a:buClr>
                <a:srgbClr val="000000"/>
              </a:buClr>
              <a:buSzTx/>
              <a:defRPr sz="1800">
                <a:uFillTx/>
              </a:defRPr>
            </a:pPr>
            <a:r>
              <a:rPr lang="en-US" sz="1800" dirty="0">
                <a:ea typeface="Abadi MT Condensed Light" charset="0"/>
                <a:cs typeface="Abadi MT Condensed Light" charset="0"/>
              </a:rPr>
              <a:t>1/</a:t>
            </a:r>
            <a:r>
              <a:rPr lang="en-US" sz="1800" dirty="0" err="1">
                <a:ea typeface="Abadi MT Condensed Light" charset="0"/>
                <a:cs typeface="Abadi MT Condensed Light" charset="0"/>
              </a:rPr>
              <a:t>wk</a:t>
            </a:r>
            <a:r>
              <a:rPr lang="en-US" sz="1800" dirty="0">
                <a:ea typeface="Abadi MT Condensed Light" charset="0"/>
                <a:cs typeface="Abadi MT Condensed Light" charset="0"/>
              </a:rPr>
              <a:t> (av Sun-Sun)</a:t>
            </a:r>
          </a:p>
          <a:p>
            <a:pPr marL="40640" indent="0">
              <a:buClr>
                <a:srgbClr val="000000"/>
              </a:buClr>
              <a:buSzTx/>
              <a:buNone/>
              <a:defRPr sz="1800">
                <a:uFillTx/>
              </a:defRPr>
            </a:pPr>
            <a:r>
              <a:rPr lang="en-US" sz="2400" dirty="0" err="1">
                <a:ea typeface="Abadi MT Condensed Light" charset="0"/>
                <a:cs typeface="Abadi MT Condensed Light" charset="0"/>
              </a:rPr>
              <a:t>Examlets</a:t>
            </a:r>
            <a:endParaRPr lang="en-US" sz="2400" dirty="0">
              <a:ea typeface="Abadi MT Condensed Light" charset="0"/>
              <a:cs typeface="Abadi MT Condensed Light" charset="0"/>
            </a:endParaRPr>
          </a:p>
          <a:p>
            <a:pPr>
              <a:buClr>
                <a:srgbClr val="000000"/>
              </a:buClr>
              <a:buSzTx/>
              <a:defRPr sz="1800">
                <a:uFillTx/>
              </a:defRPr>
            </a:pPr>
            <a:r>
              <a:rPr lang="en-US" sz="1800" dirty="0">
                <a:ea typeface="Abadi MT Condensed Light" charset="0"/>
                <a:cs typeface="Abadi MT Condensed Light" charset="0"/>
              </a:rPr>
              <a:t>45min within any class time</a:t>
            </a:r>
          </a:p>
        </p:txBody>
      </p:sp>
      <p:sp>
        <p:nvSpPr>
          <p:cNvPr id="9" name="Title 9">
            <a:extLst>
              <a:ext uri="{FF2B5EF4-FFF2-40B4-BE49-F238E27FC236}">
                <a16:creationId xmlns:a16="http://schemas.microsoft.com/office/drawing/2014/main" id="{2021C142-63AC-5D4F-ABE1-5F8CCB3C562A}"/>
              </a:ext>
            </a:extLst>
          </p:cNvPr>
          <p:cNvSpPr txBox="1">
            <a:spLocks/>
          </p:cNvSpPr>
          <p:nvPr/>
        </p:nvSpPr>
        <p:spPr>
          <a:xfrm>
            <a:off x="385548" y="144440"/>
            <a:ext cx="3085533" cy="9984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 marL="40639" marR="40639" algn="ctr">
              <a:defRPr sz="4400">
                <a:uFill>
                  <a:solidFill/>
                </a:uFill>
                <a:latin typeface="+mn-lt"/>
                <a:ea typeface="+mn-ea"/>
                <a:cs typeface="+mn-cs"/>
                <a:sym typeface="Arial"/>
              </a:defRPr>
            </a:lvl1pPr>
            <a:lvl2pPr marL="40639" marR="40639" indent="228600" algn="ctr">
              <a:defRPr sz="4400">
                <a:uFill>
                  <a:solidFill/>
                </a:uFill>
                <a:latin typeface="+mn-lt"/>
                <a:ea typeface="+mn-ea"/>
                <a:cs typeface="+mn-cs"/>
                <a:sym typeface="Arial"/>
              </a:defRPr>
            </a:lvl2pPr>
            <a:lvl3pPr marL="40639" marR="40639" indent="457200" algn="ctr">
              <a:defRPr sz="4400">
                <a:uFill>
                  <a:solidFill/>
                </a:uFill>
                <a:latin typeface="+mn-lt"/>
                <a:ea typeface="+mn-ea"/>
                <a:cs typeface="+mn-cs"/>
                <a:sym typeface="Arial"/>
              </a:defRPr>
            </a:lvl3pPr>
            <a:lvl4pPr marL="40639" marR="40639" indent="685800" algn="ctr">
              <a:defRPr sz="4400">
                <a:uFill>
                  <a:solidFill/>
                </a:uFill>
                <a:latin typeface="+mn-lt"/>
                <a:ea typeface="+mn-ea"/>
                <a:cs typeface="+mn-cs"/>
                <a:sym typeface="Arial"/>
              </a:defRPr>
            </a:lvl4pPr>
            <a:lvl5pPr marL="40639" marR="40639" indent="914400" algn="ctr">
              <a:defRPr sz="4400">
                <a:uFill>
                  <a:solidFill/>
                </a:uFill>
                <a:latin typeface="+mn-lt"/>
                <a:ea typeface="+mn-ea"/>
                <a:cs typeface="+mn-cs"/>
                <a:sym typeface="Arial"/>
              </a:defRPr>
            </a:lvl5pPr>
            <a:lvl6pPr marL="40639" marR="40639" indent="1143000" algn="ctr">
              <a:defRPr sz="4400">
                <a:uFill>
                  <a:solidFill/>
                </a:uFill>
                <a:latin typeface="+mn-lt"/>
                <a:ea typeface="+mn-ea"/>
                <a:cs typeface="+mn-cs"/>
                <a:sym typeface="Arial"/>
              </a:defRPr>
            </a:lvl6pPr>
            <a:lvl7pPr marL="40639" marR="40639" indent="1371600" algn="ctr">
              <a:defRPr sz="4400">
                <a:uFill>
                  <a:solidFill/>
                </a:uFill>
                <a:latin typeface="+mn-lt"/>
                <a:ea typeface="+mn-ea"/>
                <a:cs typeface="+mn-cs"/>
                <a:sym typeface="Arial"/>
              </a:defRPr>
            </a:lvl7pPr>
            <a:lvl8pPr marL="40639" marR="40639" indent="1600200" algn="ctr">
              <a:defRPr sz="4400">
                <a:uFill>
                  <a:solidFill/>
                </a:uFill>
                <a:latin typeface="+mn-lt"/>
                <a:ea typeface="+mn-ea"/>
                <a:cs typeface="+mn-cs"/>
                <a:sym typeface="Arial"/>
              </a:defRPr>
            </a:lvl8pPr>
            <a:lvl9pPr marL="40639" marR="40639" indent="1828800" algn="ctr">
              <a:defRPr sz="4400">
                <a:uFill>
                  <a:solidFill/>
                </a:u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l"/>
            <a:r>
              <a:rPr lang="en-US"/>
              <a:t>Term Flow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9807432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>
            <a:lvl1pPr algn="l"/>
          </a:lstStyle>
          <a:p>
            <a:pPr lvl="0">
              <a:defRPr sz="1800">
                <a:uFillTx/>
              </a:defRPr>
            </a:pPr>
            <a:r>
              <a:rPr sz="4400">
                <a:uFill>
                  <a:solidFill/>
                </a:uFill>
                <a:latin typeface="Abadi MT Condensed Light" charset="0"/>
                <a:ea typeface="Abadi MT Condensed Light" charset="0"/>
                <a:cs typeface="Abadi MT Condensed Light" charset="0"/>
              </a:rPr>
              <a:t>Today’s announcements:</a:t>
            </a:r>
          </a:p>
        </p:txBody>
      </p:sp>
      <p:sp>
        <p:nvSpPr>
          <p:cNvPr id="24" name="Shape 24"/>
          <p:cNvSpPr>
            <a:spLocks noGrp="1"/>
          </p:cNvSpPr>
          <p:nvPr>
            <p:ph type="body" idx="1"/>
          </p:nvPr>
        </p:nvSpPr>
        <p:spPr>
          <a:xfrm>
            <a:off x="685800" y="1752600"/>
            <a:ext cx="8153400" cy="5105400"/>
          </a:xfrm>
          <a:prstGeom prst="rect">
            <a:avLst/>
          </a:prstGeom>
        </p:spPr>
        <p:txBody>
          <a:bodyPr/>
          <a:lstStyle/>
          <a:p>
            <a:pPr lvl="0">
              <a:buClr>
                <a:srgbClr val="000000"/>
              </a:buClr>
              <a:buSzTx/>
              <a:buFont typeface="Arial"/>
              <a:buNone/>
              <a:defRPr sz="1800">
                <a:uFillTx/>
              </a:defRPr>
            </a:pPr>
            <a:r>
              <a:rPr sz="2800" dirty="0">
                <a:uFill>
                  <a:solidFill/>
                </a:uFill>
                <a:latin typeface="Abadi MT Condensed Light" charset="0"/>
                <a:ea typeface="Abadi MT Condensed Light" charset="0"/>
                <a:cs typeface="Abadi MT Condensed Light" charset="0"/>
              </a:rPr>
              <a:t>HW</a:t>
            </a:r>
            <a:r>
              <a:rPr lang="en-US" sz="2800" dirty="0">
                <a:uFill>
                  <a:solidFill/>
                </a:uFill>
                <a:latin typeface="Abadi MT Condensed Light" charset="0"/>
                <a:ea typeface="Abadi MT Condensed Light" charset="0"/>
                <a:cs typeface="Abadi MT Condensed Light" charset="0"/>
              </a:rPr>
              <a:t>1</a:t>
            </a:r>
            <a:r>
              <a:rPr sz="2800" dirty="0">
                <a:uFill>
                  <a:solidFill/>
                </a:uFill>
                <a:latin typeface="Abadi MT Condensed Light" charset="0"/>
                <a:ea typeface="Abadi MT Condensed Light" charset="0"/>
                <a:cs typeface="Abadi MT Condensed Light" charset="0"/>
              </a:rPr>
              <a:t> available</a:t>
            </a:r>
            <a:r>
              <a:rPr lang="en-US" sz="2800" dirty="0">
                <a:uFill>
                  <a:solidFill/>
                </a:uFill>
                <a:latin typeface="Abadi MT Condensed Light" charset="0"/>
                <a:ea typeface="Abadi MT Condensed Light" charset="0"/>
                <a:cs typeface="Abadi MT Condensed Light" charset="0"/>
              </a:rPr>
              <a:t> </a:t>
            </a:r>
            <a:r>
              <a:rPr lang="en-US" sz="2800" dirty="0">
                <a:latin typeface="Abadi MT Condensed Light" charset="0"/>
                <a:ea typeface="Abadi MT Condensed Light" charset="0"/>
                <a:cs typeface="Abadi MT Condensed Light" charset="0"/>
              </a:rPr>
              <a:t>F</a:t>
            </a:r>
            <a:r>
              <a:rPr lang="en-US" sz="2800" dirty="0">
                <a:uFill>
                  <a:solidFill/>
                </a:uFill>
                <a:latin typeface="Abadi MT Condensed Light" charset="0"/>
                <a:ea typeface="Abadi MT Condensed Light" charset="0"/>
                <a:cs typeface="Abadi MT Condensed Light" charset="0"/>
              </a:rPr>
              <a:t>riday</a:t>
            </a:r>
            <a:r>
              <a:rPr sz="2800" dirty="0">
                <a:uFill>
                  <a:solidFill/>
                </a:uFill>
                <a:latin typeface="Abadi MT Condensed Light" charset="0"/>
                <a:ea typeface="Abadi MT Condensed Light" charset="0"/>
                <a:cs typeface="Abadi MT Condensed Light" charset="0"/>
              </a:rPr>
              <a:t>, </a:t>
            </a:r>
            <a:r>
              <a:rPr lang="en-US" sz="2800" dirty="0">
                <a:uFill>
                  <a:solidFill/>
                </a:uFill>
                <a:latin typeface="Abadi MT Condensed Light" charset="0"/>
                <a:ea typeface="Abadi MT Condensed Light" charset="0"/>
                <a:cs typeface="Abadi MT Condensed Light" charset="0"/>
              </a:rPr>
              <a:t>due </a:t>
            </a:r>
            <a:r>
              <a:rPr lang="en-US" sz="2800" dirty="0">
                <a:uFillTx/>
                <a:latin typeface="Abadi MT Condensed Light" charset="0"/>
                <a:ea typeface="Abadi MT Condensed Light" charset="0"/>
                <a:cs typeface="Abadi MT Condensed Light" charset="0"/>
              </a:rPr>
              <a:t>Jan 24</a:t>
            </a:r>
            <a:r>
              <a:rPr lang="en-US" sz="2800" dirty="0">
                <a:uFill>
                  <a:solidFill/>
                </a:uFill>
                <a:latin typeface="Abadi MT Condensed Light" charset="0"/>
                <a:ea typeface="Abadi MT Condensed Light" charset="0"/>
                <a:cs typeface="Abadi MT Condensed Light" charset="0"/>
              </a:rPr>
              <a:t>, 23:59.</a:t>
            </a:r>
          </a:p>
          <a:p>
            <a:pPr lvl="0">
              <a:buClr>
                <a:srgbClr val="000000"/>
              </a:buClr>
              <a:buSzTx/>
              <a:buFont typeface="Arial"/>
              <a:buNone/>
              <a:defRPr sz="1800">
                <a:uFillTx/>
              </a:defRPr>
            </a:pPr>
            <a:r>
              <a:rPr lang="en-US" sz="2800" dirty="0">
                <a:uFill>
                  <a:solidFill/>
                </a:uFill>
                <a:latin typeface="Abadi MT Condensed Light" charset="0"/>
                <a:ea typeface="Abadi MT Condensed Light" charset="0"/>
                <a:cs typeface="Abadi MT Condensed Light" charset="0"/>
              </a:rPr>
              <a:t>My OH:  </a:t>
            </a:r>
            <a:r>
              <a:rPr lang="en-US" sz="2800" dirty="0">
                <a:latin typeface="Abadi MT Condensed Light" charset="0"/>
                <a:ea typeface="Abadi MT Condensed Light" charset="0"/>
                <a:cs typeface="Abadi MT Condensed Light" charset="0"/>
              </a:rPr>
              <a:t>Mon, 11a-12p,</a:t>
            </a:r>
            <a:r>
              <a:rPr lang="en-US" sz="2800" dirty="0">
                <a:uFill>
                  <a:solidFill/>
                </a:uFill>
                <a:latin typeface="Abadi MT Condensed Light" charset="0"/>
                <a:ea typeface="Abadi MT Condensed Light" charset="0"/>
                <a:cs typeface="Abadi MT Condensed Light" charset="0"/>
              </a:rPr>
              <a:t> by sign-up on Canvas (not today :( )</a:t>
            </a:r>
            <a:endParaRPr sz="2800" dirty="0">
              <a:uFill>
                <a:solidFill/>
              </a:uFill>
              <a:latin typeface="Abadi MT Condensed Light" charset="0"/>
              <a:ea typeface="Abadi MT Condensed Light" charset="0"/>
              <a:cs typeface="Abadi MT Condensed Light" charset="0"/>
            </a:endParaRPr>
          </a:p>
          <a:p>
            <a:pPr lvl="0">
              <a:buClr>
                <a:srgbClr val="000000"/>
              </a:buClr>
              <a:buSzTx/>
              <a:buFont typeface="Arial"/>
              <a:buNone/>
              <a:defRPr sz="1800">
                <a:uFillTx/>
              </a:defRPr>
            </a:pPr>
            <a:r>
              <a:rPr lang="en-US" sz="2800" dirty="0">
                <a:uFill>
                  <a:solidFill/>
                </a:uFill>
                <a:latin typeface="Abadi MT Condensed Light" charset="0"/>
                <a:ea typeface="Abadi MT Condensed Light" charset="0"/>
                <a:cs typeface="Abadi MT Condensed Light" charset="0"/>
              </a:rPr>
              <a:t>Lab sections meet this week and are important for setup!</a:t>
            </a:r>
          </a:p>
          <a:p>
            <a:pPr lvl="0">
              <a:buClr>
                <a:srgbClr val="000000"/>
              </a:buClr>
              <a:buSzTx/>
              <a:buFont typeface="Arial"/>
              <a:buNone/>
              <a:defRPr sz="1800">
                <a:uFillTx/>
              </a:defRPr>
            </a:pPr>
            <a:endParaRPr lang="en-US" sz="3600" dirty="0">
              <a:latin typeface="Abadi MT Condensed Light" charset="0"/>
              <a:ea typeface="Abadi MT Condensed Light" charset="0"/>
              <a:cs typeface="Abadi MT Condensed Light" charset="0"/>
            </a:endParaRPr>
          </a:p>
          <a:p>
            <a:pPr lvl="0">
              <a:buClr>
                <a:srgbClr val="000000"/>
              </a:buClr>
              <a:buSzTx/>
              <a:buFont typeface="Arial"/>
              <a:buNone/>
              <a:defRPr sz="1800">
                <a:uFillTx/>
              </a:defRPr>
            </a:pPr>
            <a:r>
              <a:rPr lang="en-US" sz="3600" dirty="0">
                <a:latin typeface="Abadi MT Condensed Light" charset="0"/>
                <a:ea typeface="Abadi MT Condensed Light" charset="0"/>
                <a:cs typeface="Abadi MT Condensed Light" charset="0"/>
              </a:rPr>
              <a:t>Today’s Plan:</a:t>
            </a:r>
          </a:p>
          <a:p>
            <a:pPr lvl="0">
              <a:buClr>
                <a:srgbClr val="000000"/>
              </a:buClr>
              <a:buSzTx/>
              <a:buFont typeface="Arial"/>
              <a:buNone/>
              <a:defRPr sz="1800">
                <a:uFillTx/>
              </a:defRPr>
            </a:pPr>
            <a:r>
              <a:rPr lang="en-US" sz="2800" dirty="0">
                <a:latin typeface="Abadi MT Condensed Light" charset="0"/>
                <a:ea typeface="Abadi MT Condensed Light" charset="0"/>
                <a:cs typeface="Abadi MT Condensed Light" charset="0"/>
              </a:rPr>
              <a:t>	1.  intro to algorithm analysis – code!</a:t>
            </a:r>
          </a:p>
          <a:p>
            <a:pPr lvl="0">
              <a:buClr>
                <a:srgbClr val="000000"/>
              </a:buClr>
              <a:buSzTx/>
              <a:buFont typeface="Arial"/>
              <a:buNone/>
              <a:defRPr sz="1800">
                <a:uFillTx/>
              </a:defRPr>
            </a:pPr>
            <a:r>
              <a:rPr lang="en-US" sz="2800" dirty="0">
                <a:latin typeface="Abadi MT Condensed Light" charset="0"/>
                <a:ea typeface="Abadi MT Condensed Light" charset="0"/>
                <a:cs typeface="Abadi MT Condensed Light" charset="0"/>
              </a:rPr>
              <a:t>	2.  clearing the cobwebs on </a:t>
            </a:r>
            <a:r>
              <a:rPr lang="en-US" sz="2800" dirty="0" err="1">
                <a:latin typeface="Abadi MT Condensed Light" charset="0"/>
                <a:ea typeface="Abadi MT Condensed Light" charset="0"/>
                <a:cs typeface="Abadi MT Condensed Light" charset="0"/>
              </a:rPr>
              <a:t>asymptotics</a:t>
            </a:r>
            <a:endParaRPr lang="en-US" sz="2800" dirty="0">
              <a:latin typeface="Abadi MT Condensed Light" charset="0"/>
              <a:ea typeface="Abadi MT Condensed Light" charset="0"/>
              <a:cs typeface="Abadi MT Condensed Light" charset="0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/>
          </p:cNvSpPr>
          <p:nvPr>
            <p:ph type="title"/>
          </p:nvPr>
        </p:nvSpPr>
        <p:spPr>
          <a:xfrm>
            <a:off x="685800" y="2667000"/>
            <a:ext cx="7772400" cy="1143000"/>
          </a:xfrm>
          <a:prstGeom prst="rect">
            <a:avLst/>
          </a:prstGeom>
        </p:spPr>
        <p:txBody>
          <a:bodyPr/>
          <a:lstStyle>
            <a:lvl1pPr algn="l"/>
          </a:lstStyle>
          <a:p>
            <a:pPr lvl="0">
              <a:defRPr sz="1800">
                <a:uFillTx/>
              </a:defRPr>
            </a:pPr>
            <a:r>
              <a:rPr sz="4400" dirty="0">
                <a:uFill>
                  <a:solidFill/>
                </a:uFill>
                <a:latin typeface="Abadi MT Condensed Light" charset="0"/>
                <a:ea typeface="Abadi MT Condensed Light" charset="0"/>
                <a:cs typeface="Abadi MT Condensed Light" charset="0"/>
              </a:rPr>
              <a:t>What’s this course about?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/>
          <p:nvPr/>
        </p:nvSpPr>
        <p:spPr>
          <a:xfrm>
            <a:off x="289088" y="95797"/>
            <a:ext cx="4397013" cy="553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>
            <a:lvl1pPr algn="ctr">
              <a:spcBef>
                <a:spcPts val="1400"/>
              </a:spcBef>
              <a:buClr>
                <a:srgbClr val="000000"/>
              </a:buClr>
              <a:buFont typeface="Arial"/>
            </a:lvl1pPr>
          </a:lstStyle>
          <a:p>
            <a:pPr lvl="0" algn="l">
              <a:defRPr sz="1800">
                <a:uFillTx/>
              </a:defRPr>
            </a:pPr>
            <a:r>
              <a:rPr lang="en-US" sz="3600" dirty="0">
                <a:uFill>
                  <a:solidFill/>
                </a:uFill>
                <a:latin typeface="Abadi MT Condensed Light" charset="0"/>
                <a:ea typeface="Abadi MT Condensed Light" charset="0"/>
                <a:cs typeface="Abadi MT Condensed Light" charset="0"/>
              </a:rPr>
              <a:t>Where’s </a:t>
            </a:r>
            <a:r>
              <a:rPr lang="en-US" sz="3600" dirty="0" err="1">
                <a:latin typeface="Abadi MT Condensed Light" charset="0"/>
                <a:ea typeface="Abadi MT Condensed Light" charset="0"/>
                <a:cs typeface="Abadi MT Condensed Light" charset="0"/>
              </a:rPr>
              <a:t>Ruiyu</a:t>
            </a:r>
            <a:r>
              <a:rPr lang="en-US" sz="3600" dirty="0">
                <a:uFill>
                  <a:solidFill/>
                </a:uFill>
                <a:latin typeface="Abadi MT Condensed Light" charset="0"/>
                <a:ea typeface="Abadi MT Condensed Light" charset="0"/>
                <a:cs typeface="Abadi MT Condensed Light" charset="0"/>
              </a:rPr>
              <a:t>?</a:t>
            </a:r>
          </a:p>
        </p:txBody>
      </p:sp>
      <p:sp>
        <p:nvSpPr>
          <p:cNvPr id="5" name="Shape 29"/>
          <p:cNvSpPr/>
          <p:nvPr/>
        </p:nvSpPr>
        <p:spPr>
          <a:xfrm>
            <a:off x="679740" y="5513308"/>
            <a:ext cx="4397013" cy="10413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>
            <a:lvl1pPr algn="ctr">
              <a:spcBef>
                <a:spcPts val="1400"/>
              </a:spcBef>
              <a:buClr>
                <a:srgbClr val="000000"/>
              </a:buClr>
              <a:buFont typeface="Arial"/>
            </a:lvl1pPr>
          </a:lstStyle>
          <a:p>
            <a:pPr lvl="0" algn="l">
              <a:defRPr sz="1800">
                <a:uFillTx/>
              </a:defRPr>
            </a:pPr>
            <a:r>
              <a:rPr lang="en-US" sz="2800" dirty="0">
                <a:latin typeface="Abadi MT Condensed Light" charset="0"/>
                <a:ea typeface="Abadi MT Condensed Light" charset="0"/>
                <a:cs typeface="Abadi MT Condensed Light" charset="0"/>
              </a:rPr>
              <a:t>Observations:</a:t>
            </a:r>
          </a:p>
          <a:p>
            <a:pPr lvl="0" algn="l">
              <a:defRPr sz="1800">
                <a:uFillTx/>
              </a:defRPr>
            </a:pPr>
            <a:endParaRPr sz="2800" dirty="0">
              <a:uFill>
                <a:solidFill/>
              </a:uFill>
              <a:latin typeface="Abadi MT Condensed Light" charset="0"/>
              <a:ea typeface="Abadi MT Condensed Light" charset="0"/>
              <a:cs typeface="Abadi MT Condensed Light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D041E5-E9F0-3543-8533-DA3C27001A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088" y="635940"/>
            <a:ext cx="8565823" cy="4745466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closetmess.jpg"/>
          <p:cNvPicPr/>
          <p:nvPr/>
        </p:nvPicPr>
        <p:blipFill>
          <a:blip r:embed="rId3"/>
          <a:stretch>
            <a:fillRect/>
          </a:stretch>
        </p:blipFill>
        <p:spPr>
          <a:xfrm>
            <a:off x="699247" y="504039"/>
            <a:ext cx="4426206" cy="3054649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closet.jpg"/>
          <p:cNvPicPr/>
          <p:nvPr/>
        </p:nvPicPr>
        <p:blipFill>
          <a:blip r:embed="rId4"/>
          <a:stretch>
            <a:fillRect/>
          </a:stretch>
        </p:blipFill>
        <p:spPr>
          <a:xfrm>
            <a:off x="5022575" y="3429000"/>
            <a:ext cx="3422178" cy="3422178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Shape 29">
            <a:extLst>
              <a:ext uri="{FF2B5EF4-FFF2-40B4-BE49-F238E27FC236}">
                <a16:creationId xmlns:a16="http://schemas.microsoft.com/office/drawing/2014/main" id="{99472D58-E47B-AA46-9CCF-C3BFAC3A4841}"/>
              </a:ext>
            </a:extLst>
          </p:cNvPr>
          <p:cNvSpPr/>
          <p:nvPr/>
        </p:nvSpPr>
        <p:spPr>
          <a:xfrm>
            <a:off x="679740" y="73152"/>
            <a:ext cx="4397013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>
            <a:lvl1pPr algn="ctr">
              <a:spcBef>
                <a:spcPts val="1400"/>
              </a:spcBef>
              <a:buClr>
                <a:srgbClr val="000000"/>
              </a:buClr>
              <a:buFont typeface="Arial"/>
            </a:lvl1pPr>
          </a:lstStyle>
          <a:p>
            <a:pPr lvl="0" algn="l">
              <a:defRPr sz="1800">
                <a:uFillTx/>
              </a:defRPr>
            </a:pPr>
            <a:r>
              <a:rPr lang="en-US" sz="2800" dirty="0">
                <a:uFill>
                  <a:solidFill/>
                </a:uFill>
                <a:latin typeface="Abadi MT Condensed Light" charset="0"/>
                <a:ea typeface="Abadi MT Condensed Light" charset="0"/>
                <a:cs typeface="Abadi MT Condensed Light" charset="0"/>
              </a:rPr>
              <a:t>Which closet…</a:t>
            </a:r>
            <a:endParaRPr sz="2800" dirty="0">
              <a:uFill>
                <a:solidFill/>
              </a:uFill>
              <a:latin typeface="Abadi MT Condensed Light" charset="0"/>
              <a:ea typeface="Abadi MT Condensed Light" charset="0"/>
              <a:cs typeface="Abadi MT Condensed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3618675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Abadi MT Condensed Light" charset="0"/>
                <a:ea typeface="Abadi MT Condensed Light" charset="0"/>
                <a:cs typeface="Abadi MT Condensed Light" charset="0"/>
              </a:rPr>
              <a:t>Measuring the value of algorithms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badi MT Condensed Light" charset="0"/>
                <a:ea typeface="Abadi MT Condensed Light" charset="0"/>
                <a:cs typeface="Abadi MT Condensed Light" charset="0"/>
              </a:rPr>
              <a:t>Is value 0 if algorithm is not correct?</a:t>
            </a:r>
          </a:p>
          <a:p>
            <a:pPr marL="40640" indent="0">
              <a:buNone/>
            </a:pPr>
            <a:endParaRPr lang="en-US" dirty="0">
              <a:latin typeface="Abadi MT Condensed Light" charset="0"/>
              <a:ea typeface="Abadi MT Condensed Light" charset="0"/>
              <a:cs typeface="Abadi MT Condensed Light" charset="0"/>
            </a:endParaRPr>
          </a:p>
          <a:p>
            <a:r>
              <a:rPr lang="en-US" dirty="0">
                <a:latin typeface="Abadi MT Condensed Light" charset="0"/>
                <a:ea typeface="Abadi MT Condensed Light" charset="0"/>
                <a:cs typeface="Abadi MT Condensed Light" charset="0"/>
              </a:rPr>
              <a:t>Use different metrics </a:t>
            </a:r>
            <a:r>
              <a:rPr lang="mr-IN" dirty="0">
                <a:latin typeface="Abadi MT Condensed Light" charset="0"/>
                <a:ea typeface="Abadi MT Condensed Light" charset="0"/>
                <a:cs typeface="Abadi MT Condensed Light" charset="0"/>
              </a:rPr>
              <a:t>–</a:t>
            </a:r>
            <a:r>
              <a:rPr lang="en-US" dirty="0">
                <a:latin typeface="Abadi MT Condensed Light" charset="0"/>
                <a:ea typeface="Abadi MT Condensed Light" charset="0"/>
                <a:cs typeface="Abadi MT Condensed Light" charset="0"/>
              </a:rPr>
              <a:t> time, space most common</a:t>
            </a:r>
          </a:p>
          <a:p>
            <a:r>
              <a:rPr lang="en-US" dirty="0">
                <a:latin typeface="Abadi MT Condensed Light" charset="0"/>
                <a:ea typeface="Abadi MT Condensed Light" charset="0"/>
                <a:cs typeface="Abadi MT Condensed Light" charset="0"/>
              </a:rPr>
              <a:t>Express running times as a (positive) function:</a:t>
            </a:r>
          </a:p>
          <a:p>
            <a:endParaRPr lang="en-US" dirty="0">
              <a:latin typeface="Abadi MT Condensed Light" charset="0"/>
              <a:ea typeface="Abadi MT Condensed Light" charset="0"/>
              <a:cs typeface="Abadi MT Condensed Light" charset="0"/>
            </a:endParaRPr>
          </a:p>
          <a:p>
            <a:endParaRPr lang="en-US" dirty="0">
              <a:latin typeface="Abadi MT Condensed Light" charset="0"/>
              <a:ea typeface="Abadi MT Condensed Light" charset="0"/>
              <a:cs typeface="Abadi MT Condensed Light" charset="0"/>
            </a:endParaRPr>
          </a:p>
          <a:p>
            <a:r>
              <a:rPr lang="en-US" dirty="0">
                <a:latin typeface="Abadi MT Condensed Light" charset="0"/>
                <a:ea typeface="Abadi MT Condensed Light" charset="0"/>
                <a:cs typeface="Abadi MT Condensed Light" charset="0"/>
              </a:rPr>
              <a:t>Form of function depends on structure of the algorithm:</a:t>
            </a:r>
          </a:p>
          <a:p>
            <a:endParaRPr lang="en-US" dirty="0">
              <a:latin typeface="Abadi MT Condensed Light" charset="0"/>
              <a:ea typeface="Abadi MT Condensed Light" charset="0"/>
              <a:cs typeface="Abadi MT Condensed Light" charset="0"/>
            </a:endParaRPr>
          </a:p>
          <a:p>
            <a:endParaRPr lang="en-US" dirty="0">
              <a:latin typeface="Abadi MT Condensed Light" charset="0"/>
              <a:ea typeface="Abadi MT Condensed Light" charset="0"/>
              <a:cs typeface="Abadi MT Condensed Light" charset="0"/>
            </a:endParaRPr>
          </a:p>
          <a:p>
            <a:endParaRPr lang="en-US" dirty="0">
              <a:latin typeface="Abadi MT Condensed Light" charset="0"/>
              <a:ea typeface="Abadi MT Condensed Light" charset="0"/>
              <a:cs typeface="Abadi MT Condensed Light" charset="0"/>
            </a:endParaRPr>
          </a:p>
          <a:p>
            <a:endParaRPr lang="en-US" dirty="0">
              <a:latin typeface="Abadi MT Condensed Light" charset="0"/>
              <a:ea typeface="Abadi MT Condensed Light" charset="0"/>
              <a:cs typeface="Abadi MT Condensed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98082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Abadi MT Condensed Light" charset="0"/>
                <a:ea typeface="Abadi MT Condensed Light" charset="0"/>
                <a:cs typeface="Abadi MT Condensed Light" charset="0"/>
              </a:rPr>
              <a:t>Running times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badi MT Condensed Light" charset="0"/>
                <a:ea typeface="Abadi MT Condensed Light" charset="0"/>
                <a:cs typeface="Abadi MT Condensed Light" charset="0"/>
              </a:rPr>
              <a:t>Suppose a computer executes 10</a:t>
            </a:r>
            <a:r>
              <a:rPr lang="en-US" baseline="30000" dirty="0">
                <a:latin typeface="Abadi MT Condensed Light" charset="0"/>
                <a:ea typeface="Abadi MT Condensed Light" charset="0"/>
                <a:cs typeface="Abadi MT Condensed Light" charset="0"/>
              </a:rPr>
              <a:t>12</a:t>
            </a:r>
            <a:r>
              <a:rPr lang="en-US" dirty="0">
                <a:latin typeface="Abadi MT Condensed Light" charset="0"/>
                <a:ea typeface="Abadi MT Condensed Light" charset="0"/>
                <a:cs typeface="Abadi MT Condensed Light" charset="0"/>
              </a:rPr>
              <a:t> operations per sec.</a:t>
            </a:r>
            <a:endParaRPr lang="en-US" baseline="30000" dirty="0">
              <a:latin typeface="Abadi MT Condensed Light" charset="0"/>
              <a:ea typeface="Abadi MT Condensed Light" charset="0"/>
              <a:cs typeface="Abadi MT Condensed Light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7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636331336"/>
                  </p:ext>
                </p:extLst>
              </p:nvPr>
            </p:nvGraphicFramePr>
            <p:xfrm>
              <a:off x="511344" y="3177034"/>
              <a:ext cx="8207376" cy="238436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6789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6789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6789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36789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367896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367896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:endParaRPr lang="en-CA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sz="2000" i="1" dirty="0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lang="en-CA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sz="2000" i="1" dirty="0" smtClean="0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lang="en-CA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sz="2000" i="1" dirty="0" smtClean="0">
                                    <a:latin typeface="Cambria Math" panose="02040503050406030204" pitchFamily="18" charset="0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lang="en-CA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sz="2000" i="1" dirty="0" smtClean="0">
                                    <a:latin typeface="Cambria Math" panose="02040503050406030204" pitchFamily="18" charset="0"/>
                                  </a:rPr>
                                  <m:t>10,000</m:t>
                                </m:r>
                              </m:oMath>
                            </m:oMathPara>
                          </a14:m>
                          <a:endParaRPr lang="en-CA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CA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sz="2000" b="1" i="1" smtClean="0"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e>
                                  <m:sup>
                                    <m:r>
                                      <a:rPr lang="en-CA" sz="2000" b="1" i="1" smtClean="0"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CA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CA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CA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CA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CA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CA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CA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func>
                                  <m:funcPr>
                                    <m:ctrlPr>
                                      <a:rPr lang="en-CA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CA" sz="20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CA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CA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CA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CA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CA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CA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CA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CA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CA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CA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CA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CA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CA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CA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CA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CA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CA" sz="20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CA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CA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CA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CA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CA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CA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CA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CA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CA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CA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CA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CA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CA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7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636331336"/>
                  </p:ext>
                </p:extLst>
              </p:nvPr>
            </p:nvGraphicFramePr>
            <p:xfrm>
              <a:off x="511344" y="3177034"/>
              <a:ext cx="8207376" cy="238436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6789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6789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6789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36789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367896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367896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403162">
                    <a:tc>
                      <a:txBody>
                        <a:bodyPr/>
                        <a:lstStyle/>
                        <a:p>
                          <a:pPr algn="ctr"/>
                          <a:endParaRPr lang="en-CA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926" t="-3125" r="-400000" b="-490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926" t="-3125" r="-300000" b="-490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3738" t="-3125" r="-202804" b="-490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3125" r="-100926" b="-490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0000" t="-3125" r="-926" b="-4906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26" t="-106452" r="-500000" b="-4064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CA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CA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CA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CA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CA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26" t="-206452" r="-500000" b="-3064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CA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CA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CA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CA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CA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26" t="-296875" r="-500000" b="-196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CA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CA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CA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CA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CA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26" t="-409677" r="-500000" b="-10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CA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CA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CA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CA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CA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26" t="-509677" r="-500000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CA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CA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CA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CA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CA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5216413"/>
              </p:ext>
            </p:extLst>
          </p:nvPr>
        </p:nvGraphicFramePr>
        <p:xfrm>
          <a:off x="1898871" y="3577078"/>
          <a:ext cx="1315065" cy="1981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5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sz="2000" dirty="0"/>
                        <a:t>10</a:t>
                      </a:r>
                      <a:r>
                        <a:rPr lang="en-CA" sz="2000" baseline="30000" dirty="0"/>
                        <a:t>-11</a:t>
                      </a:r>
                      <a:r>
                        <a:rPr lang="en-CA" sz="2000" baseline="0" dirty="0"/>
                        <a:t> s</a:t>
                      </a:r>
                      <a:endParaRPr lang="en-CA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000" dirty="0"/>
                        <a:t>10</a:t>
                      </a:r>
                      <a:r>
                        <a:rPr lang="en-CA" sz="2000" baseline="30000" dirty="0"/>
                        <a:t>-11</a:t>
                      </a:r>
                      <a:r>
                        <a:rPr lang="en-CA" sz="2000" baseline="0" dirty="0"/>
                        <a:t> s</a:t>
                      </a:r>
                      <a:endParaRPr lang="en-CA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000" dirty="0"/>
                        <a:t>10</a:t>
                      </a:r>
                      <a:r>
                        <a:rPr lang="en-CA" sz="2000" baseline="30000" dirty="0"/>
                        <a:t>-10</a:t>
                      </a:r>
                      <a:r>
                        <a:rPr lang="en-CA" sz="2000" baseline="0" dirty="0"/>
                        <a:t> s</a:t>
                      </a:r>
                      <a:endParaRPr lang="en-CA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000" dirty="0"/>
                        <a:t>10</a:t>
                      </a:r>
                      <a:r>
                        <a:rPr lang="en-CA" sz="2000" baseline="30000" dirty="0"/>
                        <a:t>-9</a:t>
                      </a:r>
                      <a:r>
                        <a:rPr lang="en-CA" sz="2000" baseline="0" dirty="0"/>
                        <a:t> s</a:t>
                      </a:r>
                      <a:endParaRPr lang="en-CA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000" dirty="0"/>
                        <a:t>10</a:t>
                      </a:r>
                      <a:r>
                        <a:rPr lang="en-CA" sz="2000" baseline="30000" dirty="0"/>
                        <a:t>-9</a:t>
                      </a:r>
                      <a:r>
                        <a:rPr lang="en-CA" sz="2000" baseline="0" dirty="0"/>
                        <a:t> s</a:t>
                      </a:r>
                      <a:endParaRPr lang="en-CA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583297"/>
              </p:ext>
            </p:extLst>
          </p:nvPr>
        </p:nvGraphicFramePr>
        <p:xfrm>
          <a:off x="3228684" y="3560047"/>
          <a:ext cx="1315065" cy="1981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5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sz="2000" dirty="0"/>
                        <a:t>10</a:t>
                      </a:r>
                      <a:r>
                        <a:rPr lang="en-CA" sz="2000" baseline="30000" dirty="0"/>
                        <a:t>-10</a:t>
                      </a:r>
                      <a:r>
                        <a:rPr lang="en-CA" sz="2000" baseline="0" dirty="0"/>
                        <a:t> s</a:t>
                      </a:r>
                      <a:endParaRPr lang="en-CA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000" dirty="0"/>
                        <a:t>10</a:t>
                      </a:r>
                      <a:r>
                        <a:rPr lang="en-CA" sz="2000" baseline="30000" dirty="0"/>
                        <a:t>-9</a:t>
                      </a:r>
                      <a:r>
                        <a:rPr lang="en-CA" sz="2000" baseline="0" dirty="0"/>
                        <a:t> s</a:t>
                      </a:r>
                      <a:endParaRPr lang="en-CA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000" dirty="0"/>
                        <a:t>10</a:t>
                      </a:r>
                      <a:r>
                        <a:rPr lang="en-CA" sz="2000" baseline="30000" dirty="0"/>
                        <a:t>-8</a:t>
                      </a:r>
                      <a:r>
                        <a:rPr lang="en-CA" sz="2000" baseline="0" dirty="0"/>
                        <a:t> s</a:t>
                      </a:r>
                      <a:endParaRPr lang="en-CA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000" dirty="0"/>
                        <a:t>10</a:t>
                      </a:r>
                      <a:r>
                        <a:rPr lang="en-CA" sz="2000" baseline="30000" dirty="0"/>
                        <a:t>-6</a:t>
                      </a:r>
                      <a:r>
                        <a:rPr lang="en-CA" sz="2000" baseline="0" dirty="0"/>
                        <a:t> s</a:t>
                      </a:r>
                      <a:endParaRPr lang="en-CA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000" dirty="0"/>
                        <a:t>10</a:t>
                      </a:r>
                      <a:r>
                        <a:rPr lang="en-CA" sz="2000" baseline="30000" dirty="0"/>
                        <a:t>18</a:t>
                      </a:r>
                      <a:r>
                        <a:rPr lang="en-CA" sz="2000" baseline="0" dirty="0"/>
                        <a:t> s</a:t>
                      </a:r>
                      <a:endParaRPr lang="en-CA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489352"/>
              </p:ext>
            </p:extLst>
          </p:nvPr>
        </p:nvGraphicFramePr>
        <p:xfrm>
          <a:off x="4649451" y="3564965"/>
          <a:ext cx="1315065" cy="1981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5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sz="2000" dirty="0"/>
                        <a:t>10</a:t>
                      </a:r>
                      <a:r>
                        <a:rPr lang="en-CA" sz="2000" baseline="30000" dirty="0"/>
                        <a:t>-9</a:t>
                      </a:r>
                      <a:r>
                        <a:rPr lang="en-CA" sz="2000" baseline="0" dirty="0"/>
                        <a:t> s</a:t>
                      </a:r>
                      <a:endParaRPr lang="en-CA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000" dirty="0"/>
                        <a:t>10</a:t>
                      </a:r>
                      <a:r>
                        <a:rPr lang="en-CA" sz="2000" baseline="30000" dirty="0"/>
                        <a:t>-8</a:t>
                      </a:r>
                      <a:r>
                        <a:rPr lang="en-CA" sz="2000" baseline="0" dirty="0"/>
                        <a:t> s</a:t>
                      </a:r>
                      <a:endParaRPr lang="en-CA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000" dirty="0"/>
                        <a:t>10</a:t>
                      </a:r>
                      <a:r>
                        <a:rPr lang="en-CA" sz="2000" baseline="30000" dirty="0"/>
                        <a:t>-6</a:t>
                      </a:r>
                      <a:r>
                        <a:rPr lang="en-CA" sz="2000" baseline="0" dirty="0"/>
                        <a:t> s</a:t>
                      </a:r>
                      <a:endParaRPr lang="en-CA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000" dirty="0"/>
                        <a:t>10</a:t>
                      </a:r>
                      <a:r>
                        <a:rPr lang="en-CA" sz="2000" baseline="30000" dirty="0"/>
                        <a:t>-3</a:t>
                      </a:r>
                      <a:r>
                        <a:rPr lang="en-CA" sz="2000" baseline="0" dirty="0"/>
                        <a:t> s</a:t>
                      </a:r>
                      <a:endParaRPr lang="en-CA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000" dirty="0"/>
                        <a:t>10</a:t>
                      </a:r>
                      <a:r>
                        <a:rPr lang="en-CA" sz="2000" baseline="30000" dirty="0"/>
                        <a:t>289</a:t>
                      </a:r>
                      <a:r>
                        <a:rPr lang="en-CA" sz="2000" baseline="0" dirty="0"/>
                        <a:t> s</a:t>
                      </a:r>
                      <a:endParaRPr lang="en-CA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4990633"/>
              </p:ext>
            </p:extLst>
          </p:nvPr>
        </p:nvGraphicFramePr>
        <p:xfrm>
          <a:off x="6011223" y="3569881"/>
          <a:ext cx="1315065" cy="1981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5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sz="2000" dirty="0"/>
                        <a:t>10</a:t>
                      </a:r>
                      <a:r>
                        <a:rPr lang="en-CA" sz="2000" baseline="30000" dirty="0"/>
                        <a:t>-8</a:t>
                      </a:r>
                      <a:r>
                        <a:rPr lang="en-CA" sz="2000" baseline="0" dirty="0"/>
                        <a:t> s</a:t>
                      </a:r>
                      <a:endParaRPr lang="en-CA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000" dirty="0"/>
                        <a:t>10</a:t>
                      </a:r>
                      <a:r>
                        <a:rPr lang="en-CA" sz="2000" baseline="30000" dirty="0"/>
                        <a:t>-7</a:t>
                      </a:r>
                      <a:r>
                        <a:rPr lang="en-CA" sz="2000" baseline="0" dirty="0"/>
                        <a:t> s</a:t>
                      </a:r>
                      <a:endParaRPr lang="en-CA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000" dirty="0"/>
                        <a:t>10</a:t>
                      </a:r>
                      <a:r>
                        <a:rPr lang="en-CA" sz="2000" baseline="30000" dirty="0"/>
                        <a:t>-4</a:t>
                      </a:r>
                      <a:r>
                        <a:rPr lang="en-CA" sz="2000" baseline="0" dirty="0"/>
                        <a:t> s</a:t>
                      </a:r>
                      <a:endParaRPr lang="en-CA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000" dirty="0"/>
                        <a:t>1</a:t>
                      </a:r>
                      <a:r>
                        <a:rPr lang="en-CA" sz="2000" baseline="0" dirty="0"/>
                        <a:t> s</a:t>
                      </a:r>
                      <a:endParaRPr lang="en-CA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7484655"/>
              </p:ext>
            </p:extLst>
          </p:nvPr>
        </p:nvGraphicFramePr>
        <p:xfrm>
          <a:off x="7387740" y="3574801"/>
          <a:ext cx="1315065" cy="1981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5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sz="2000" dirty="0"/>
                        <a:t>1</a:t>
                      </a:r>
                      <a:r>
                        <a:rPr lang="en-CA" sz="2000" baseline="0" dirty="0"/>
                        <a:t> s</a:t>
                      </a:r>
                      <a:endParaRPr lang="en-CA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000" dirty="0"/>
                        <a:t>40</a:t>
                      </a:r>
                      <a:r>
                        <a:rPr lang="en-CA" sz="2000" baseline="0" dirty="0"/>
                        <a:t> s</a:t>
                      </a:r>
                      <a:endParaRPr lang="en-CA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000" dirty="0"/>
                        <a:t>10</a:t>
                      </a:r>
                      <a:r>
                        <a:rPr lang="en-CA" sz="2000" baseline="30000" dirty="0"/>
                        <a:t>12</a:t>
                      </a:r>
                      <a:r>
                        <a:rPr lang="en-CA" sz="2000" baseline="0" dirty="0"/>
                        <a:t> s</a:t>
                      </a:r>
                      <a:endParaRPr lang="en-CA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000" dirty="0"/>
                        <a:t>10</a:t>
                      </a:r>
                      <a:r>
                        <a:rPr lang="en-CA" sz="2000" baseline="30000" dirty="0"/>
                        <a:t>24</a:t>
                      </a:r>
                      <a:r>
                        <a:rPr lang="en-CA" sz="2000" baseline="0" dirty="0"/>
                        <a:t> s</a:t>
                      </a:r>
                      <a:endParaRPr lang="en-CA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B882774-36BC-B845-B43E-D04D5467F0F5}"/>
              </a:ext>
            </a:extLst>
          </p:cNvPr>
          <p:cNvSpPr txBox="1"/>
          <p:nvPr/>
        </p:nvSpPr>
        <p:spPr>
          <a:xfrm>
            <a:off x="5099125" y="2735962"/>
            <a:ext cx="105424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lt"/>
                <a:ea typeface="+mn-ea"/>
                <a:cs typeface="+mn-cs"/>
                <a:sym typeface="Arial"/>
              </a:rPr>
              <a:t>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FB78E5-DC43-0642-9469-F8258085BB8D}"/>
              </a:ext>
            </a:extLst>
          </p:cNvPr>
          <p:cNvSpPr txBox="1"/>
          <p:nvPr/>
        </p:nvSpPr>
        <p:spPr>
          <a:xfrm rot="16200000">
            <a:off x="-276300" y="4019235"/>
            <a:ext cx="105424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lt"/>
                <a:ea typeface="+mn-ea"/>
                <a:cs typeface="+mn-cs"/>
                <a:sym typeface="Arial"/>
              </a:rPr>
              <a:t>T(n)</a:t>
            </a:r>
          </a:p>
        </p:txBody>
      </p:sp>
    </p:spTree>
    <p:extLst>
      <p:ext uri="{BB962C8B-B14F-4D97-AF65-F5344CB8AC3E}">
        <p14:creationId xmlns:p14="http://schemas.microsoft.com/office/powerpoint/2010/main" val="341486583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214749"/>
            <a:ext cx="7772400" cy="1600200"/>
          </a:xfrm>
        </p:spPr>
        <p:txBody>
          <a:bodyPr/>
          <a:lstStyle/>
          <a:p>
            <a:pPr algn="l"/>
            <a:r>
              <a:rPr lang="en-US" dirty="0">
                <a:latin typeface="Abadi MT Condensed Light" charset="0"/>
                <a:ea typeface="Abadi MT Condensed Light" charset="0"/>
                <a:cs typeface="Abadi MT Condensed Light" charset="0"/>
              </a:rPr>
              <a:t>Algorithmic Analysis – example 1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188976" y="1044075"/>
            <a:ext cx="8766048" cy="2363430"/>
            <a:chOff x="195072" y="1908048"/>
            <a:chExt cx="8766048" cy="2363430"/>
          </a:xfrm>
        </p:grpSpPr>
        <p:sp>
          <p:nvSpPr>
            <p:cNvPr id="4" name="Rounded Rectangle 3"/>
            <p:cNvSpPr/>
            <p:nvPr/>
          </p:nvSpPr>
          <p:spPr>
            <a:xfrm>
              <a:off x="685800" y="1908048"/>
              <a:ext cx="8275320" cy="2341007"/>
            </a:xfrm>
            <a:prstGeom prst="roundRect">
              <a:avLst>
                <a:gd name="adj" fmla="val 2291"/>
              </a:avLst>
            </a:prstGeom>
            <a:solidFill>
              <a:srgbClr val="C6E6E9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t">
              <a:spAutoFit/>
            </a:bodyPr>
            <a:lstStyle/>
            <a:p>
              <a:pPr marL="40640" indent="0">
                <a:buNone/>
              </a:pPr>
              <a:r>
                <a:rPr lang="en-US" dirty="0">
                  <a:solidFill>
                    <a:srgbClr val="0070C0"/>
                  </a:solidFill>
                  <a:latin typeface="Courier" charset="0"/>
                  <a:ea typeface="Courier" charset="0"/>
                  <a:cs typeface="Courier" charset="0"/>
                </a:rPr>
                <a:t>int 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______ (</a:t>
              </a:r>
              <a:r>
                <a:rPr lang="en-US" dirty="0">
                  <a:solidFill>
                    <a:srgbClr val="0070C0"/>
                  </a:solidFill>
                  <a:latin typeface="Courier" charset="0"/>
                  <a:ea typeface="Courier" charset="0"/>
                  <a:cs typeface="Courier" charset="0"/>
                </a:rPr>
                <a:t>vector&lt;int&gt; </a:t>
              </a:r>
              <a:r>
                <a:rPr lang="en-US" dirty="0" err="1">
                  <a:solidFill>
                    <a:schemeClr val="tx1"/>
                  </a:solidFill>
                  <a:latin typeface="Courier" charset="0"/>
                  <a:ea typeface="Courier" charset="0"/>
                  <a:cs typeface="Courier" charset="0"/>
                </a:rPr>
                <a:t>arr</a:t>
              </a:r>
              <a:r>
                <a:rPr lang="en-US" dirty="0">
                  <a:solidFill>
                    <a:schemeClr val="tx1"/>
                  </a:solidFill>
                  <a:latin typeface="Courier" charset="0"/>
                  <a:ea typeface="Courier" charset="0"/>
                  <a:cs typeface="Courier" charset="0"/>
                </a:rPr>
                <a:t>,</a:t>
              </a:r>
              <a:r>
                <a:rPr lang="en-US" dirty="0">
                  <a:solidFill>
                    <a:srgbClr val="0070C0"/>
                  </a:solidFill>
                  <a:latin typeface="Courier" charset="0"/>
                  <a:ea typeface="Courier" charset="0"/>
                  <a:cs typeface="Courier" charset="0"/>
                </a:rPr>
                <a:t> int 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q){</a:t>
              </a:r>
            </a:p>
            <a:p>
              <a:pPr marL="40640" indent="0">
                <a:buNone/>
              </a:pP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	</a:t>
              </a:r>
              <a:r>
                <a:rPr lang="en-US" dirty="0">
                  <a:solidFill>
                    <a:srgbClr val="0070C0"/>
                  </a:solidFill>
                  <a:latin typeface="Courier" charset="0"/>
                  <a:ea typeface="Courier" charset="0"/>
                  <a:cs typeface="Courier" charset="0"/>
                </a:rPr>
                <a:t>for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 (</a:t>
              </a:r>
              <a:r>
                <a:rPr lang="en-US" dirty="0" err="1">
                  <a:solidFill>
                    <a:srgbClr val="0070C0"/>
                  </a:solidFill>
                  <a:latin typeface="Courier" charset="0"/>
                  <a:ea typeface="Courier" charset="0"/>
                  <a:cs typeface="Courier" charset="0"/>
                </a:rPr>
                <a:t>int</a:t>
              </a:r>
              <a:r>
                <a:rPr lang="en-US" dirty="0">
                  <a:solidFill>
                    <a:srgbClr val="0070C0"/>
                  </a:solidFill>
                  <a:latin typeface="Courier" charset="0"/>
                  <a:ea typeface="Courier" charset="0"/>
                  <a:cs typeface="Courier" charset="0"/>
                </a:rPr>
                <a:t> </a:t>
              </a:r>
              <a:r>
                <a:rPr lang="en-US" dirty="0" err="1">
                  <a:latin typeface="Courier" charset="0"/>
                  <a:ea typeface="Courier" charset="0"/>
                  <a:cs typeface="Courier" charset="0"/>
                </a:rPr>
                <a:t>i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 = 0; </a:t>
              </a:r>
              <a:r>
                <a:rPr lang="en-US" dirty="0" err="1">
                  <a:latin typeface="Courier" charset="0"/>
                  <a:ea typeface="Courier" charset="0"/>
                  <a:cs typeface="Courier" charset="0"/>
                </a:rPr>
                <a:t>i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 &lt; </a:t>
              </a:r>
              <a:r>
                <a:rPr lang="en-US" dirty="0" err="1">
                  <a:latin typeface="Courier" charset="0"/>
                  <a:ea typeface="Courier" charset="0"/>
                  <a:cs typeface="Courier" charset="0"/>
                </a:rPr>
                <a:t>arr.size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(); </a:t>
              </a:r>
              <a:r>
                <a:rPr lang="en-US" dirty="0" err="1">
                  <a:latin typeface="Courier" charset="0"/>
                  <a:ea typeface="Courier" charset="0"/>
                  <a:cs typeface="Courier" charset="0"/>
                </a:rPr>
                <a:t>i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++)</a:t>
              </a:r>
            </a:p>
            <a:p>
              <a:pPr marL="40640" indent="0">
                <a:buNone/>
              </a:pP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		</a:t>
              </a:r>
              <a:r>
                <a:rPr lang="en-US" dirty="0">
                  <a:solidFill>
                    <a:srgbClr val="0070C0"/>
                  </a:solidFill>
                  <a:latin typeface="Courier" charset="0"/>
                  <a:ea typeface="Courier" charset="0"/>
                  <a:cs typeface="Courier" charset="0"/>
                </a:rPr>
                <a:t>if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 (</a:t>
              </a:r>
              <a:r>
                <a:rPr lang="en-US" dirty="0" err="1">
                  <a:latin typeface="Courier" charset="0"/>
                  <a:ea typeface="Courier" charset="0"/>
                  <a:cs typeface="Courier" charset="0"/>
                </a:rPr>
                <a:t>arr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[</a:t>
              </a:r>
              <a:r>
                <a:rPr lang="en-US" dirty="0" err="1">
                  <a:latin typeface="Courier" charset="0"/>
                  <a:ea typeface="Courier" charset="0"/>
                  <a:cs typeface="Courier" charset="0"/>
                </a:rPr>
                <a:t>i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] == q)</a:t>
              </a:r>
            </a:p>
            <a:p>
              <a:pPr marL="40640" indent="0">
                <a:buNone/>
              </a:pP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			</a:t>
              </a:r>
              <a:r>
                <a:rPr lang="en-US" dirty="0">
                  <a:solidFill>
                    <a:srgbClr val="0070C0"/>
                  </a:solidFill>
                  <a:latin typeface="Courier" charset="0"/>
                  <a:ea typeface="Courier" charset="0"/>
                  <a:cs typeface="Courier" charset="0"/>
                </a:rPr>
                <a:t>return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 </a:t>
              </a:r>
              <a:r>
                <a:rPr lang="en-US" dirty="0" err="1">
                  <a:latin typeface="Courier" charset="0"/>
                  <a:ea typeface="Courier" charset="0"/>
                  <a:cs typeface="Courier" charset="0"/>
                </a:rPr>
                <a:t>i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;</a:t>
              </a:r>
            </a:p>
            <a:p>
              <a:pPr marL="40640" indent="0">
                <a:buNone/>
              </a:pP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	</a:t>
              </a:r>
              <a:r>
                <a:rPr lang="en-US" dirty="0">
                  <a:solidFill>
                    <a:srgbClr val="0070C0"/>
                  </a:solidFill>
                  <a:latin typeface="Courier" charset="0"/>
                  <a:ea typeface="Courier" charset="0"/>
                  <a:cs typeface="Courier" charset="0"/>
                </a:rPr>
                <a:t>return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 </a:t>
              </a:r>
              <a:r>
                <a:rPr lang="en-US" dirty="0">
                  <a:solidFill>
                    <a:srgbClr val="FF0000"/>
                  </a:solidFill>
                  <a:latin typeface="Courier" charset="0"/>
                  <a:ea typeface="Courier" charset="0"/>
                  <a:cs typeface="Courier" charset="0"/>
                </a:rPr>
                <a:t>-1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;</a:t>
              </a:r>
            </a:p>
            <a:p>
              <a:pPr marL="40640" indent="0">
                <a:buNone/>
              </a:pP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}</a:t>
              </a:r>
              <a:endParaRPr lang="en-CA" dirty="0">
                <a:latin typeface="Courier" charset="0"/>
                <a:ea typeface="Courier" charset="0"/>
                <a:cs typeface="Courier" charset="0"/>
              </a:endParaRP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95072" y="1908048"/>
              <a:ext cx="478536" cy="2363430"/>
            </a:xfrm>
            <a:prstGeom prst="roundRect">
              <a:avLst/>
            </a:prstGeom>
            <a:solidFill>
              <a:schemeClr val="bg1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t">
              <a:spAutoFit/>
            </a:bodyPr>
            <a:lstStyle/>
            <a:p>
              <a:pPr marL="40639" marR="40639" indent="0" algn="r" defTabSz="914400" rtl="0" fontAlgn="auto" latinLnBrk="1" hangingPunct="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Courier" charset="0"/>
                  <a:ea typeface="Courier" charset="0"/>
                  <a:cs typeface="Courier" charset="0"/>
                  <a:sym typeface="Arial"/>
                </a:rPr>
                <a:t>1</a:t>
              </a:r>
            </a:p>
            <a:p>
              <a:pPr marL="40639" marR="40639" indent="0" algn="r" defTabSz="914400" rtl="0" fontAlgn="auto" latinLnBrk="1" hangingPunct="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Courier" charset="0"/>
                  <a:ea typeface="Courier" charset="0"/>
                  <a:cs typeface="Courier" charset="0"/>
                </a:rPr>
                <a:t>2</a:t>
              </a:r>
            </a:p>
            <a:p>
              <a:pPr marL="40639" marR="40639" indent="0" algn="r" defTabSz="914400" rtl="0" fontAlgn="auto" latinLnBrk="1" hangingPunct="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Courier" charset="0"/>
                  <a:ea typeface="Courier" charset="0"/>
                  <a:cs typeface="Courier" charset="0"/>
                  <a:sym typeface="Arial"/>
                </a:rPr>
                <a:t>3</a:t>
              </a:r>
            </a:p>
            <a:p>
              <a:pPr marL="40639" marR="40639" indent="0" algn="r" defTabSz="914400" rtl="0" fontAlgn="auto" latinLnBrk="1" hangingPunct="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Courier" charset="0"/>
                  <a:ea typeface="Courier" charset="0"/>
                  <a:cs typeface="Courier" charset="0"/>
                </a:rPr>
                <a:t>4</a:t>
              </a:r>
            </a:p>
            <a:p>
              <a:pPr marL="40639" marR="40639" indent="0" algn="r" defTabSz="914400" rtl="0" fontAlgn="auto" latinLnBrk="1" hangingPunct="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Courier" charset="0"/>
                  <a:ea typeface="Courier" charset="0"/>
                  <a:cs typeface="Courier" charset="0"/>
                  <a:sym typeface="Arial"/>
                </a:rPr>
                <a:t>5</a:t>
              </a:r>
            </a:p>
            <a:p>
              <a:pPr marL="40639" marR="40639" indent="0" algn="r" defTabSz="914400" rtl="0" fontAlgn="auto" latinLnBrk="1" hangingPunct="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Courier" charset="0"/>
                  <a:ea typeface="Courier" charset="0"/>
                  <a:cs typeface="Courier" charset="0"/>
                </a:rPr>
                <a:t>6</a:t>
              </a:r>
              <a:endParaRPr kumimoji="0" lang="en-US" sz="24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ourier" charset="0"/>
                <a:ea typeface="Courier" charset="0"/>
                <a:cs typeface="Courier" charset="0"/>
                <a:sym typeface="Arial"/>
              </a:endParaRPr>
            </a:p>
          </p:txBody>
        </p:sp>
      </p:grpSp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685800" y="3407505"/>
            <a:ext cx="7772400" cy="2260386"/>
          </a:xfrm>
        </p:spPr>
        <p:txBody>
          <a:bodyPr/>
          <a:lstStyle/>
          <a:p>
            <a:pPr marL="40640" indent="0">
              <a:buNone/>
            </a:pPr>
            <a:r>
              <a:rPr lang="en-US" dirty="0">
                <a:latin typeface="Abadi MT Condensed Light" charset="0"/>
                <a:ea typeface="Abadi MT Condensed Light" charset="0"/>
                <a:cs typeface="Abadi MT Condensed Light" charset="0"/>
              </a:rPr>
              <a:t>What does it do?</a:t>
            </a:r>
          </a:p>
          <a:p>
            <a:pPr marL="40640" indent="0">
              <a:buNone/>
            </a:pPr>
            <a:endParaRPr lang="en-US" dirty="0">
              <a:latin typeface="Abadi MT Condensed Light" charset="0"/>
              <a:ea typeface="Abadi MT Condensed Light" charset="0"/>
              <a:cs typeface="Abadi MT Condensed Light" charset="0"/>
            </a:endParaRPr>
          </a:p>
          <a:p>
            <a:pPr marL="40640" indent="0">
              <a:buNone/>
            </a:pPr>
            <a:endParaRPr lang="en-US" dirty="0">
              <a:latin typeface="Abadi MT Condensed Light" charset="0"/>
              <a:ea typeface="Abadi MT Condensed Light" charset="0"/>
              <a:cs typeface="Abadi MT Condensed Light" charset="0"/>
            </a:endParaRPr>
          </a:p>
          <a:p>
            <a:pPr marL="40640" indent="0">
              <a:buNone/>
            </a:pPr>
            <a:r>
              <a:rPr lang="en-US" dirty="0">
                <a:latin typeface="Abadi MT Condensed Light" charset="0"/>
                <a:ea typeface="Abadi MT Condensed Light" charset="0"/>
                <a:cs typeface="Abadi MT Condensed Light" charset="0"/>
              </a:rPr>
              <a:t>How long does it take?</a:t>
            </a:r>
            <a:endParaRPr lang="en-CA" dirty="0">
              <a:latin typeface="Abadi MT Condensed Light" charset="0"/>
              <a:ea typeface="Abadi MT Condensed Light" charset="0"/>
              <a:cs typeface="Abadi MT Condensed Light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9513462"/>
              </p:ext>
            </p:extLst>
          </p:nvPr>
        </p:nvGraphicFramePr>
        <p:xfrm>
          <a:off x="1131780" y="3983857"/>
          <a:ext cx="7371168" cy="8968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06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6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6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06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06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06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06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069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069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069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069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6069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6069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6069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6069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6069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448413">
                <a:tc>
                  <a:txBody>
                    <a:bodyPr/>
                    <a:lstStyle/>
                    <a:p>
                      <a:r>
                        <a:rPr lang="en-US" sz="1700" dirty="0"/>
                        <a:t>0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1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2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3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4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5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6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7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8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9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10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11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12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13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14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15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413">
                <a:tc>
                  <a:txBody>
                    <a:bodyPr/>
                    <a:lstStyle/>
                    <a:p>
                      <a:r>
                        <a:rPr lang="en-US" sz="1700" dirty="0"/>
                        <a:t>32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11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73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21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29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86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81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92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57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61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64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15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79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44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7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45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5466293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214749"/>
            <a:ext cx="7772400" cy="1600200"/>
          </a:xfrm>
        </p:spPr>
        <p:txBody>
          <a:bodyPr/>
          <a:lstStyle/>
          <a:p>
            <a:pPr algn="l"/>
            <a:r>
              <a:rPr lang="en-US" dirty="0">
                <a:latin typeface="Abadi MT Condensed Light" charset="0"/>
                <a:ea typeface="Abadi MT Condensed Light" charset="0"/>
                <a:cs typeface="Abadi MT Condensed Light" charset="0"/>
              </a:rPr>
              <a:t>Algorithmic Analysis – running time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188976" y="1044075"/>
            <a:ext cx="8766048" cy="2363430"/>
            <a:chOff x="195072" y="1908048"/>
            <a:chExt cx="8766048" cy="2363430"/>
          </a:xfrm>
        </p:grpSpPr>
        <p:sp>
          <p:nvSpPr>
            <p:cNvPr id="4" name="Rounded Rectangle 3"/>
            <p:cNvSpPr/>
            <p:nvPr/>
          </p:nvSpPr>
          <p:spPr>
            <a:xfrm>
              <a:off x="685800" y="1908048"/>
              <a:ext cx="8275320" cy="2341007"/>
            </a:xfrm>
            <a:prstGeom prst="roundRect">
              <a:avLst>
                <a:gd name="adj" fmla="val 2291"/>
              </a:avLst>
            </a:prstGeom>
            <a:solidFill>
              <a:srgbClr val="C6E6E9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t">
              <a:spAutoFit/>
            </a:bodyPr>
            <a:lstStyle/>
            <a:p>
              <a:pPr marL="40640" indent="0">
                <a:buNone/>
              </a:pPr>
              <a:r>
                <a:rPr lang="en-US" dirty="0">
                  <a:solidFill>
                    <a:srgbClr val="0070C0"/>
                  </a:solidFill>
                  <a:latin typeface="Courier" charset="0"/>
                  <a:ea typeface="Courier" charset="0"/>
                  <a:cs typeface="Courier" charset="0"/>
                </a:rPr>
                <a:t>int 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______ (</a:t>
              </a:r>
              <a:r>
                <a:rPr lang="en-US" dirty="0">
                  <a:solidFill>
                    <a:srgbClr val="0070C0"/>
                  </a:solidFill>
                  <a:latin typeface="Courier" charset="0"/>
                  <a:ea typeface="Courier" charset="0"/>
                  <a:cs typeface="Courier" charset="0"/>
                </a:rPr>
                <a:t>vector&lt;int&gt; </a:t>
              </a:r>
              <a:r>
                <a:rPr lang="en-US" dirty="0" err="1">
                  <a:solidFill>
                    <a:schemeClr val="tx1"/>
                  </a:solidFill>
                  <a:latin typeface="Courier" charset="0"/>
                  <a:ea typeface="Courier" charset="0"/>
                  <a:cs typeface="Courier" charset="0"/>
                </a:rPr>
                <a:t>arr</a:t>
              </a:r>
              <a:r>
                <a:rPr lang="en-US" dirty="0">
                  <a:solidFill>
                    <a:schemeClr val="tx1"/>
                  </a:solidFill>
                  <a:latin typeface="Courier" charset="0"/>
                  <a:ea typeface="Courier" charset="0"/>
                  <a:cs typeface="Courier" charset="0"/>
                </a:rPr>
                <a:t>,</a:t>
              </a:r>
              <a:r>
                <a:rPr lang="en-US" dirty="0">
                  <a:solidFill>
                    <a:srgbClr val="0070C0"/>
                  </a:solidFill>
                  <a:latin typeface="Courier" charset="0"/>
                  <a:ea typeface="Courier" charset="0"/>
                  <a:cs typeface="Courier" charset="0"/>
                </a:rPr>
                <a:t> int 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q){</a:t>
              </a:r>
            </a:p>
            <a:p>
              <a:pPr marL="40640" indent="0">
                <a:buNone/>
              </a:pP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	</a:t>
              </a:r>
              <a:r>
                <a:rPr lang="en-US" dirty="0">
                  <a:solidFill>
                    <a:srgbClr val="0070C0"/>
                  </a:solidFill>
                  <a:latin typeface="Courier" charset="0"/>
                  <a:ea typeface="Courier" charset="0"/>
                  <a:cs typeface="Courier" charset="0"/>
                </a:rPr>
                <a:t>for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 (</a:t>
              </a:r>
              <a:r>
                <a:rPr lang="en-US" dirty="0" err="1">
                  <a:solidFill>
                    <a:srgbClr val="0070C0"/>
                  </a:solidFill>
                  <a:latin typeface="Courier" charset="0"/>
                  <a:ea typeface="Courier" charset="0"/>
                  <a:cs typeface="Courier" charset="0"/>
                </a:rPr>
                <a:t>int</a:t>
              </a:r>
              <a:r>
                <a:rPr lang="en-US" dirty="0">
                  <a:solidFill>
                    <a:srgbClr val="0070C0"/>
                  </a:solidFill>
                  <a:latin typeface="Courier" charset="0"/>
                  <a:ea typeface="Courier" charset="0"/>
                  <a:cs typeface="Courier" charset="0"/>
                </a:rPr>
                <a:t> </a:t>
              </a:r>
              <a:r>
                <a:rPr lang="en-US" dirty="0" err="1">
                  <a:latin typeface="Courier" charset="0"/>
                  <a:ea typeface="Courier" charset="0"/>
                  <a:cs typeface="Courier" charset="0"/>
                </a:rPr>
                <a:t>i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 = 0; </a:t>
              </a:r>
              <a:r>
                <a:rPr lang="en-US" dirty="0" err="1">
                  <a:latin typeface="Courier" charset="0"/>
                  <a:ea typeface="Courier" charset="0"/>
                  <a:cs typeface="Courier" charset="0"/>
                </a:rPr>
                <a:t>i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 &lt; </a:t>
              </a:r>
              <a:r>
                <a:rPr lang="en-US" dirty="0" err="1">
                  <a:latin typeface="Courier" charset="0"/>
                  <a:ea typeface="Courier" charset="0"/>
                  <a:cs typeface="Courier" charset="0"/>
                </a:rPr>
                <a:t>arr.size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(); </a:t>
              </a:r>
              <a:r>
                <a:rPr lang="en-US" dirty="0" err="1">
                  <a:latin typeface="Courier" charset="0"/>
                  <a:ea typeface="Courier" charset="0"/>
                  <a:cs typeface="Courier" charset="0"/>
                </a:rPr>
                <a:t>i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++)</a:t>
              </a:r>
            </a:p>
            <a:p>
              <a:pPr marL="40640" indent="0">
                <a:buNone/>
              </a:pP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		</a:t>
              </a:r>
              <a:r>
                <a:rPr lang="en-US" dirty="0">
                  <a:solidFill>
                    <a:srgbClr val="0070C0"/>
                  </a:solidFill>
                  <a:latin typeface="Courier" charset="0"/>
                  <a:ea typeface="Courier" charset="0"/>
                  <a:cs typeface="Courier" charset="0"/>
                </a:rPr>
                <a:t>if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 (</a:t>
              </a:r>
              <a:r>
                <a:rPr lang="en-US" dirty="0" err="1">
                  <a:latin typeface="Courier" charset="0"/>
                  <a:ea typeface="Courier" charset="0"/>
                  <a:cs typeface="Courier" charset="0"/>
                </a:rPr>
                <a:t>arr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[</a:t>
              </a:r>
              <a:r>
                <a:rPr lang="en-US" dirty="0" err="1">
                  <a:latin typeface="Courier" charset="0"/>
                  <a:ea typeface="Courier" charset="0"/>
                  <a:cs typeface="Courier" charset="0"/>
                </a:rPr>
                <a:t>i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] == q)</a:t>
              </a:r>
            </a:p>
            <a:p>
              <a:pPr marL="40640" indent="0">
                <a:buNone/>
              </a:pP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			</a:t>
              </a:r>
              <a:r>
                <a:rPr lang="en-US" dirty="0">
                  <a:solidFill>
                    <a:srgbClr val="0070C0"/>
                  </a:solidFill>
                  <a:latin typeface="Courier" charset="0"/>
                  <a:ea typeface="Courier" charset="0"/>
                  <a:cs typeface="Courier" charset="0"/>
                </a:rPr>
                <a:t>return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 </a:t>
              </a:r>
              <a:r>
                <a:rPr lang="en-US" dirty="0" err="1">
                  <a:latin typeface="Courier" charset="0"/>
                  <a:ea typeface="Courier" charset="0"/>
                  <a:cs typeface="Courier" charset="0"/>
                </a:rPr>
                <a:t>i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;</a:t>
              </a:r>
            </a:p>
            <a:p>
              <a:pPr marL="40640" indent="0">
                <a:buNone/>
              </a:pP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	</a:t>
              </a:r>
              <a:r>
                <a:rPr lang="en-US" dirty="0">
                  <a:solidFill>
                    <a:srgbClr val="0070C0"/>
                  </a:solidFill>
                  <a:latin typeface="Courier" charset="0"/>
                  <a:ea typeface="Courier" charset="0"/>
                  <a:cs typeface="Courier" charset="0"/>
                </a:rPr>
                <a:t>return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 </a:t>
              </a:r>
              <a:r>
                <a:rPr lang="en-US" dirty="0">
                  <a:solidFill>
                    <a:srgbClr val="FF0000"/>
                  </a:solidFill>
                  <a:latin typeface="Courier" charset="0"/>
                  <a:ea typeface="Courier" charset="0"/>
                  <a:cs typeface="Courier" charset="0"/>
                </a:rPr>
                <a:t>-1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;</a:t>
              </a:r>
            </a:p>
            <a:p>
              <a:pPr marL="40640" indent="0">
                <a:buNone/>
              </a:pP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}</a:t>
              </a:r>
              <a:endParaRPr lang="en-CA" dirty="0">
                <a:latin typeface="Courier" charset="0"/>
                <a:ea typeface="Courier" charset="0"/>
                <a:cs typeface="Courier" charset="0"/>
              </a:endParaRP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95072" y="1908048"/>
              <a:ext cx="478536" cy="2363430"/>
            </a:xfrm>
            <a:prstGeom prst="roundRect">
              <a:avLst/>
            </a:prstGeom>
            <a:solidFill>
              <a:schemeClr val="bg1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t">
              <a:spAutoFit/>
            </a:bodyPr>
            <a:lstStyle/>
            <a:p>
              <a:pPr marL="40639" marR="40639" indent="0" algn="r" defTabSz="914400" rtl="0" fontAlgn="auto" latinLnBrk="1" hangingPunct="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Courier" charset="0"/>
                  <a:ea typeface="Courier" charset="0"/>
                  <a:cs typeface="Courier" charset="0"/>
                  <a:sym typeface="Arial"/>
                </a:rPr>
                <a:t>1</a:t>
              </a:r>
            </a:p>
            <a:p>
              <a:pPr marL="40639" marR="40639" indent="0" algn="r" defTabSz="914400" rtl="0" fontAlgn="auto" latinLnBrk="1" hangingPunct="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Courier" charset="0"/>
                  <a:ea typeface="Courier" charset="0"/>
                  <a:cs typeface="Courier" charset="0"/>
                </a:rPr>
                <a:t>2</a:t>
              </a:r>
            </a:p>
            <a:p>
              <a:pPr marL="40639" marR="40639" indent="0" algn="r" defTabSz="914400" rtl="0" fontAlgn="auto" latinLnBrk="1" hangingPunct="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Courier" charset="0"/>
                  <a:ea typeface="Courier" charset="0"/>
                  <a:cs typeface="Courier" charset="0"/>
                  <a:sym typeface="Arial"/>
                </a:rPr>
                <a:t>3</a:t>
              </a:r>
            </a:p>
            <a:p>
              <a:pPr marL="40639" marR="40639" indent="0" algn="r" defTabSz="914400" rtl="0" fontAlgn="auto" latinLnBrk="1" hangingPunct="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Courier" charset="0"/>
                  <a:ea typeface="Courier" charset="0"/>
                  <a:cs typeface="Courier" charset="0"/>
                </a:rPr>
                <a:t>4</a:t>
              </a:r>
            </a:p>
            <a:p>
              <a:pPr marL="40639" marR="40639" indent="0" algn="r" defTabSz="914400" rtl="0" fontAlgn="auto" latinLnBrk="1" hangingPunct="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Courier" charset="0"/>
                  <a:ea typeface="Courier" charset="0"/>
                  <a:cs typeface="Courier" charset="0"/>
                  <a:sym typeface="Arial"/>
                </a:rPr>
                <a:t>5</a:t>
              </a:r>
            </a:p>
            <a:p>
              <a:pPr marL="40639" marR="40639" indent="0" algn="r" defTabSz="914400" rtl="0" fontAlgn="auto" latinLnBrk="1" hangingPunct="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Courier" charset="0"/>
                  <a:ea typeface="Courier" charset="0"/>
                  <a:cs typeface="Courier" charset="0"/>
                </a:rPr>
                <a:t>6</a:t>
              </a:r>
              <a:endParaRPr kumimoji="0" lang="en-US" sz="24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ourier" charset="0"/>
                <a:ea typeface="Courier" charset="0"/>
                <a:cs typeface="Courier" charset="0"/>
                <a:sym typeface="Arial"/>
              </a:endParaRPr>
            </a:p>
          </p:txBody>
        </p:sp>
      </p:grpSp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685800" y="3407505"/>
            <a:ext cx="7772400" cy="2260386"/>
          </a:xfrm>
        </p:spPr>
        <p:txBody>
          <a:bodyPr/>
          <a:lstStyle/>
          <a:p>
            <a:pPr marL="40640" indent="0">
              <a:buNone/>
            </a:pPr>
            <a:r>
              <a:rPr lang="en-US" dirty="0">
                <a:latin typeface="Abadi MT Condensed Light" charset="0"/>
                <a:ea typeface="Abadi MT Condensed Light" charset="0"/>
                <a:cs typeface="Abadi MT Condensed Light" charset="0"/>
              </a:rPr>
              <a:t>How long does it take?</a:t>
            </a:r>
          </a:p>
          <a:p>
            <a:pPr marL="40640" indent="0">
              <a:buNone/>
            </a:pPr>
            <a:r>
              <a:rPr lang="en-US" dirty="0">
                <a:latin typeface="Abadi MT Condensed Light" charset="0"/>
                <a:ea typeface="Abadi MT Condensed Light" charset="0"/>
                <a:cs typeface="Abadi MT Condensed Light" charset="0"/>
              </a:rPr>
              <a:t>What does it depend on?</a:t>
            </a:r>
            <a:endParaRPr lang="en-CA" dirty="0">
              <a:latin typeface="Abadi MT Condensed Light" charset="0"/>
              <a:ea typeface="Abadi MT Condensed Light" charset="0"/>
              <a:cs typeface="Abadi MT Condensed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0282856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C8DFE60-78D6-C74F-A4EE-9050D149B1CF}"/>
              </a:ext>
            </a:extLst>
          </p:cNvPr>
          <p:cNvGrpSpPr/>
          <p:nvPr/>
        </p:nvGrpSpPr>
        <p:grpSpPr>
          <a:xfrm>
            <a:off x="188976" y="933235"/>
            <a:ext cx="8766048" cy="2363430"/>
            <a:chOff x="195072" y="1908048"/>
            <a:chExt cx="8766048" cy="2363430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538F4A0F-D735-8144-86AB-4F691779443A}"/>
                </a:ext>
              </a:extLst>
            </p:cNvPr>
            <p:cNvSpPr/>
            <p:nvPr/>
          </p:nvSpPr>
          <p:spPr>
            <a:xfrm>
              <a:off x="685800" y="1908048"/>
              <a:ext cx="8275320" cy="2341007"/>
            </a:xfrm>
            <a:prstGeom prst="roundRect">
              <a:avLst>
                <a:gd name="adj" fmla="val 2291"/>
              </a:avLst>
            </a:prstGeom>
            <a:solidFill>
              <a:srgbClr val="C6E6E9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t">
              <a:spAutoFit/>
            </a:bodyPr>
            <a:lstStyle/>
            <a:p>
              <a:pPr marL="40640" indent="0">
                <a:buNone/>
              </a:pPr>
              <a:r>
                <a:rPr lang="en-US" dirty="0">
                  <a:solidFill>
                    <a:srgbClr val="0070C0"/>
                  </a:solidFill>
                  <a:latin typeface="Courier" charset="0"/>
                  <a:ea typeface="Courier" charset="0"/>
                  <a:cs typeface="Courier" charset="0"/>
                </a:rPr>
                <a:t>int 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______ (</a:t>
              </a:r>
              <a:r>
                <a:rPr lang="en-US" dirty="0">
                  <a:solidFill>
                    <a:srgbClr val="0070C0"/>
                  </a:solidFill>
                  <a:latin typeface="Courier" charset="0"/>
                  <a:ea typeface="Courier" charset="0"/>
                  <a:cs typeface="Courier" charset="0"/>
                </a:rPr>
                <a:t>vector&lt;int&gt; </a:t>
              </a:r>
              <a:r>
                <a:rPr lang="en-US" dirty="0" err="1">
                  <a:solidFill>
                    <a:schemeClr val="tx1"/>
                  </a:solidFill>
                  <a:latin typeface="Courier" charset="0"/>
                  <a:ea typeface="Courier" charset="0"/>
                  <a:cs typeface="Courier" charset="0"/>
                </a:rPr>
                <a:t>arr</a:t>
              </a:r>
              <a:r>
                <a:rPr lang="en-US" dirty="0">
                  <a:solidFill>
                    <a:schemeClr val="tx1"/>
                  </a:solidFill>
                  <a:latin typeface="Courier" charset="0"/>
                  <a:ea typeface="Courier" charset="0"/>
                  <a:cs typeface="Courier" charset="0"/>
                </a:rPr>
                <a:t>,</a:t>
              </a:r>
              <a:r>
                <a:rPr lang="en-US" dirty="0">
                  <a:solidFill>
                    <a:srgbClr val="0070C0"/>
                  </a:solidFill>
                  <a:latin typeface="Courier" charset="0"/>
                  <a:ea typeface="Courier" charset="0"/>
                  <a:cs typeface="Courier" charset="0"/>
                </a:rPr>
                <a:t> int 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q){</a:t>
              </a:r>
            </a:p>
            <a:p>
              <a:pPr marL="40640" indent="0">
                <a:buNone/>
              </a:pP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	</a:t>
              </a:r>
              <a:r>
                <a:rPr lang="en-US" dirty="0">
                  <a:solidFill>
                    <a:srgbClr val="0070C0"/>
                  </a:solidFill>
                  <a:latin typeface="Courier" charset="0"/>
                  <a:ea typeface="Courier" charset="0"/>
                  <a:cs typeface="Courier" charset="0"/>
                </a:rPr>
                <a:t>for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 (</a:t>
              </a:r>
              <a:r>
                <a:rPr lang="en-US" dirty="0" err="1">
                  <a:solidFill>
                    <a:srgbClr val="0070C0"/>
                  </a:solidFill>
                  <a:latin typeface="Courier" charset="0"/>
                  <a:ea typeface="Courier" charset="0"/>
                  <a:cs typeface="Courier" charset="0"/>
                </a:rPr>
                <a:t>int</a:t>
              </a:r>
              <a:r>
                <a:rPr lang="en-US" dirty="0">
                  <a:solidFill>
                    <a:srgbClr val="0070C0"/>
                  </a:solidFill>
                  <a:latin typeface="Courier" charset="0"/>
                  <a:ea typeface="Courier" charset="0"/>
                  <a:cs typeface="Courier" charset="0"/>
                </a:rPr>
                <a:t> </a:t>
              </a:r>
              <a:r>
                <a:rPr lang="en-US" dirty="0" err="1">
                  <a:latin typeface="Courier" charset="0"/>
                  <a:ea typeface="Courier" charset="0"/>
                  <a:cs typeface="Courier" charset="0"/>
                </a:rPr>
                <a:t>i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 = 0; </a:t>
              </a:r>
              <a:r>
                <a:rPr lang="en-US" dirty="0" err="1">
                  <a:latin typeface="Courier" charset="0"/>
                  <a:ea typeface="Courier" charset="0"/>
                  <a:cs typeface="Courier" charset="0"/>
                </a:rPr>
                <a:t>i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 &lt; </a:t>
              </a:r>
              <a:r>
                <a:rPr lang="en-US" dirty="0" err="1">
                  <a:latin typeface="Courier" charset="0"/>
                  <a:ea typeface="Courier" charset="0"/>
                  <a:cs typeface="Courier" charset="0"/>
                </a:rPr>
                <a:t>arr.size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(); </a:t>
              </a:r>
              <a:r>
                <a:rPr lang="en-US" dirty="0" err="1">
                  <a:latin typeface="Courier" charset="0"/>
                  <a:ea typeface="Courier" charset="0"/>
                  <a:cs typeface="Courier" charset="0"/>
                </a:rPr>
                <a:t>i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++)</a:t>
              </a:r>
            </a:p>
            <a:p>
              <a:pPr marL="40640" indent="0">
                <a:buNone/>
              </a:pP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		</a:t>
              </a:r>
              <a:r>
                <a:rPr lang="en-US" dirty="0">
                  <a:solidFill>
                    <a:srgbClr val="0070C0"/>
                  </a:solidFill>
                  <a:latin typeface="Courier" charset="0"/>
                  <a:ea typeface="Courier" charset="0"/>
                  <a:cs typeface="Courier" charset="0"/>
                </a:rPr>
                <a:t>if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 (</a:t>
              </a:r>
              <a:r>
                <a:rPr lang="en-US" dirty="0" err="1">
                  <a:latin typeface="Courier" charset="0"/>
                  <a:ea typeface="Courier" charset="0"/>
                  <a:cs typeface="Courier" charset="0"/>
                </a:rPr>
                <a:t>arr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[</a:t>
              </a:r>
              <a:r>
                <a:rPr lang="en-US" dirty="0" err="1">
                  <a:latin typeface="Courier" charset="0"/>
                  <a:ea typeface="Courier" charset="0"/>
                  <a:cs typeface="Courier" charset="0"/>
                </a:rPr>
                <a:t>i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] == q)</a:t>
              </a:r>
            </a:p>
            <a:p>
              <a:pPr marL="40640" indent="0">
                <a:buNone/>
              </a:pP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			</a:t>
              </a:r>
              <a:r>
                <a:rPr lang="en-US" dirty="0">
                  <a:solidFill>
                    <a:srgbClr val="0070C0"/>
                  </a:solidFill>
                  <a:latin typeface="Courier" charset="0"/>
                  <a:ea typeface="Courier" charset="0"/>
                  <a:cs typeface="Courier" charset="0"/>
                </a:rPr>
                <a:t>return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 </a:t>
              </a:r>
              <a:r>
                <a:rPr lang="en-US" dirty="0" err="1">
                  <a:latin typeface="Courier" charset="0"/>
                  <a:ea typeface="Courier" charset="0"/>
                  <a:cs typeface="Courier" charset="0"/>
                </a:rPr>
                <a:t>i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;</a:t>
              </a:r>
            </a:p>
            <a:p>
              <a:pPr marL="40640" indent="0">
                <a:buNone/>
              </a:pP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	</a:t>
              </a:r>
              <a:r>
                <a:rPr lang="en-US" dirty="0">
                  <a:solidFill>
                    <a:srgbClr val="0070C0"/>
                  </a:solidFill>
                  <a:latin typeface="Courier" charset="0"/>
                  <a:ea typeface="Courier" charset="0"/>
                  <a:cs typeface="Courier" charset="0"/>
                </a:rPr>
                <a:t>return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 </a:t>
              </a:r>
              <a:r>
                <a:rPr lang="en-US" dirty="0">
                  <a:solidFill>
                    <a:srgbClr val="FF0000"/>
                  </a:solidFill>
                  <a:latin typeface="Courier" charset="0"/>
                  <a:ea typeface="Courier" charset="0"/>
                  <a:cs typeface="Courier" charset="0"/>
                </a:rPr>
                <a:t>-1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;</a:t>
              </a:r>
            </a:p>
            <a:p>
              <a:pPr marL="40640" indent="0">
                <a:buNone/>
              </a:pP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}</a:t>
              </a:r>
              <a:endParaRPr lang="en-CA" dirty="0">
                <a:latin typeface="Courier" charset="0"/>
                <a:ea typeface="Courier" charset="0"/>
                <a:cs typeface="Courier" charset="0"/>
              </a:endParaRP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CCDFA6A8-E9FF-604E-92BE-50A878B093BE}"/>
                </a:ext>
              </a:extLst>
            </p:cNvPr>
            <p:cNvSpPr/>
            <p:nvPr/>
          </p:nvSpPr>
          <p:spPr>
            <a:xfrm>
              <a:off x="195072" y="1908048"/>
              <a:ext cx="478536" cy="2363430"/>
            </a:xfrm>
            <a:prstGeom prst="roundRect">
              <a:avLst/>
            </a:prstGeom>
            <a:solidFill>
              <a:schemeClr val="bg1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t">
              <a:spAutoFit/>
            </a:bodyPr>
            <a:lstStyle/>
            <a:p>
              <a:pPr marL="40639" marR="40639" indent="0" algn="r" defTabSz="914400" rtl="0" fontAlgn="auto" latinLnBrk="1" hangingPunct="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Courier" charset="0"/>
                  <a:ea typeface="Courier" charset="0"/>
                  <a:cs typeface="Courier" charset="0"/>
                  <a:sym typeface="Arial"/>
                </a:rPr>
                <a:t>1</a:t>
              </a:r>
            </a:p>
            <a:p>
              <a:pPr marL="40639" marR="40639" indent="0" algn="r" defTabSz="914400" rtl="0" fontAlgn="auto" latinLnBrk="1" hangingPunct="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Courier" charset="0"/>
                  <a:ea typeface="Courier" charset="0"/>
                  <a:cs typeface="Courier" charset="0"/>
                </a:rPr>
                <a:t>2</a:t>
              </a:r>
            </a:p>
            <a:p>
              <a:pPr marL="40639" marR="40639" indent="0" algn="r" defTabSz="914400" rtl="0" fontAlgn="auto" latinLnBrk="1" hangingPunct="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Courier" charset="0"/>
                  <a:ea typeface="Courier" charset="0"/>
                  <a:cs typeface="Courier" charset="0"/>
                  <a:sym typeface="Arial"/>
                </a:rPr>
                <a:t>3</a:t>
              </a:r>
            </a:p>
            <a:p>
              <a:pPr marL="40639" marR="40639" indent="0" algn="r" defTabSz="914400" rtl="0" fontAlgn="auto" latinLnBrk="1" hangingPunct="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Courier" charset="0"/>
                  <a:ea typeface="Courier" charset="0"/>
                  <a:cs typeface="Courier" charset="0"/>
                </a:rPr>
                <a:t>4</a:t>
              </a:r>
            </a:p>
            <a:p>
              <a:pPr marL="40639" marR="40639" indent="0" algn="r" defTabSz="914400" rtl="0" fontAlgn="auto" latinLnBrk="1" hangingPunct="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Courier" charset="0"/>
                  <a:ea typeface="Courier" charset="0"/>
                  <a:cs typeface="Courier" charset="0"/>
                  <a:sym typeface="Arial"/>
                </a:rPr>
                <a:t>5</a:t>
              </a:r>
            </a:p>
            <a:p>
              <a:pPr marL="40639" marR="40639" indent="0" algn="r" defTabSz="914400" rtl="0" fontAlgn="auto" latinLnBrk="1" hangingPunct="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Courier" charset="0"/>
                  <a:ea typeface="Courier" charset="0"/>
                  <a:cs typeface="Courier" charset="0"/>
                </a:rPr>
                <a:t>6</a:t>
              </a:r>
              <a:endParaRPr kumimoji="0" lang="en-US" sz="24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ourier" charset="0"/>
                <a:ea typeface="Courier" charset="0"/>
                <a:cs typeface="Courier" charset="0"/>
                <a:sym typeface="Arial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350520"/>
            <a:ext cx="7772400" cy="1600200"/>
          </a:xfrm>
        </p:spPr>
        <p:txBody>
          <a:bodyPr/>
          <a:lstStyle/>
          <a:p>
            <a:pPr algn="l"/>
            <a:r>
              <a:rPr lang="en-US" dirty="0">
                <a:latin typeface="Abadi MT Condensed Light" charset="0"/>
                <a:ea typeface="Abadi MT Condensed Light" charset="0"/>
                <a:cs typeface="Abadi MT Condensed Light" charset="0"/>
              </a:rPr>
              <a:t>Algorithmic Analysis Discussion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685800" y="3747222"/>
            <a:ext cx="7772400" cy="2260386"/>
          </a:xfrm>
        </p:spPr>
        <p:txBody>
          <a:bodyPr/>
          <a:lstStyle/>
          <a:p>
            <a:pPr marL="40640" indent="0">
              <a:buNone/>
            </a:pPr>
            <a:r>
              <a:rPr lang="en-US" dirty="0">
                <a:latin typeface="Abadi MT Condensed Light" charset="0"/>
                <a:ea typeface="Abadi MT Condensed Light" charset="0"/>
                <a:cs typeface="Abadi MT Condensed Light" charset="0"/>
              </a:rPr>
              <a:t>What’s the </a:t>
            </a:r>
            <a:r>
              <a:rPr lang="en-US" i="1" dirty="0">
                <a:latin typeface="Abadi MT Condensed Light" charset="0"/>
                <a:ea typeface="Abadi MT Condensed Light" charset="0"/>
                <a:cs typeface="Abadi MT Condensed Light" charset="0"/>
              </a:rPr>
              <a:t>best</a:t>
            </a:r>
            <a:r>
              <a:rPr lang="en-US" dirty="0">
                <a:latin typeface="Abadi MT Condensed Light" charset="0"/>
                <a:ea typeface="Abadi MT Condensed Light" charset="0"/>
                <a:cs typeface="Abadi MT Condensed Light" charset="0"/>
              </a:rPr>
              <a:t> case running time?</a:t>
            </a:r>
          </a:p>
          <a:p>
            <a:pPr marL="40640" indent="0">
              <a:buNone/>
            </a:pPr>
            <a:endParaRPr lang="en-US" dirty="0">
              <a:latin typeface="Abadi MT Condensed Light" charset="0"/>
              <a:ea typeface="Abadi MT Condensed Light" charset="0"/>
              <a:cs typeface="Abadi MT Condensed Light" charset="0"/>
            </a:endParaRPr>
          </a:p>
          <a:p>
            <a:pPr marL="40640" indent="0">
              <a:buNone/>
            </a:pPr>
            <a:r>
              <a:rPr lang="en-US" dirty="0">
                <a:latin typeface="Abadi MT Condensed Light" charset="0"/>
                <a:ea typeface="Abadi MT Condensed Light" charset="0"/>
                <a:cs typeface="Abadi MT Condensed Light" charset="0"/>
              </a:rPr>
              <a:t>What’s the </a:t>
            </a:r>
            <a:r>
              <a:rPr lang="en-US" i="1" dirty="0">
                <a:latin typeface="Abadi MT Condensed Light" charset="0"/>
                <a:ea typeface="Abadi MT Condensed Light" charset="0"/>
                <a:cs typeface="Abadi MT Condensed Light" charset="0"/>
              </a:rPr>
              <a:t>worst</a:t>
            </a:r>
            <a:r>
              <a:rPr lang="en-US" dirty="0">
                <a:latin typeface="Abadi MT Condensed Light" charset="0"/>
                <a:ea typeface="Abadi MT Condensed Light" charset="0"/>
                <a:cs typeface="Abadi MT Condensed Light" charset="0"/>
              </a:rPr>
              <a:t> case running time?</a:t>
            </a:r>
          </a:p>
          <a:p>
            <a:pPr marL="40640" indent="0">
              <a:buNone/>
            </a:pPr>
            <a:endParaRPr lang="en-US" dirty="0">
              <a:latin typeface="Abadi MT Condensed Light" charset="0"/>
              <a:ea typeface="Abadi MT Condensed Light" charset="0"/>
              <a:cs typeface="Abadi MT Condensed Light" charset="0"/>
            </a:endParaRPr>
          </a:p>
          <a:p>
            <a:pPr marL="40640" indent="0">
              <a:buNone/>
            </a:pPr>
            <a:r>
              <a:rPr lang="en-CA" dirty="0">
                <a:latin typeface="Abadi MT Condensed Light" charset="0"/>
                <a:ea typeface="Abadi MT Condensed Light" charset="0"/>
                <a:cs typeface="Abadi MT Condensed Light" charset="0"/>
              </a:rPr>
              <a:t>What’s the </a:t>
            </a:r>
            <a:r>
              <a:rPr lang="en-CA" i="1" dirty="0">
                <a:latin typeface="Abadi MT Condensed Light" charset="0"/>
                <a:ea typeface="Abadi MT Condensed Light" charset="0"/>
                <a:cs typeface="Abadi MT Condensed Light" charset="0"/>
              </a:rPr>
              <a:t>average</a:t>
            </a:r>
            <a:r>
              <a:rPr lang="en-CA" dirty="0">
                <a:latin typeface="Abadi MT Condensed Light" charset="0"/>
                <a:ea typeface="Abadi MT Condensed Light" charset="0"/>
                <a:cs typeface="Abadi MT Condensed Light" charset="0"/>
              </a:rPr>
              <a:t> case running time?</a:t>
            </a:r>
            <a:endParaRPr lang="en-US" dirty="0">
              <a:latin typeface="Abadi MT Condensed Light" charset="0"/>
              <a:ea typeface="Abadi MT Condensed Light" charset="0"/>
              <a:cs typeface="Abadi MT Condensed Light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471632" y="2825282"/>
          <a:ext cx="7371168" cy="8968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06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6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6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06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06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06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06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069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069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069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069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6069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6069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6069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6069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6069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448413">
                <a:tc>
                  <a:txBody>
                    <a:bodyPr/>
                    <a:lstStyle/>
                    <a:p>
                      <a:r>
                        <a:rPr lang="en-US" sz="1700" dirty="0"/>
                        <a:t>0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1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2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3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4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5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6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7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8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9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10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11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12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13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14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15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413">
                <a:tc>
                  <a:txBody>
                    <a:bodyPr/>
                    <a:lstStyle/>
                    <a:p>
                      <a:r>
                        <a:rPr lang="en-US" sz="1700" dirty="0"/>
                        <a:t>32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11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73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21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29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86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81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92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57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61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64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15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79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44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7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45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2843161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C8DFE60-78D6-C74F-A4EE-9050D149B1CF}"/>
              </a:ext>
            </a:extLst>
          </p:cNvPr>
          <p:cNvGrpSpPr/>
          <p:nvPr/>
        </p:nvGrpSpPr>
        <p:grpSpPr>
          <a:xfrm>
            <a:off x="188976" y="933235"/>
            <a:ext cx="8766048" cy="2363430"/>
            <a:chOff x="195072" y="1908048"/>
            <a:chExt cx="8766048" cy="2363430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538F4A0F-D735-8144-86AB-4F691779443A}"/>
                </a:ext>
              </a:extLst>
            </p:cNvPr>
            <p:cNvSpPr/>
            <p:nvPr/>
          </p:nvSpPr>
          <p:spPr>
            <a:xfrm>
              <a:off x="685800" y="1908048"/>
              <a:ext cx="8275320" cy="2341007"/>
            </a:xfrm>
            <a:prstGeom prst="roundRect">
              <a:avLst>
                <a:gd name="adj" fmla="val 2291"/>
              </a:avLst>
            </a:prstGeom>
            <a:solidFill>
              <a:srgbClr val="C6E6E9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t">
              <a:spAutoFit/>
            </a:bodyPr>
            <a:lstStyle/>
            <a:p>
              <a:pPr marL="40640" indent="0">
                <a:buNone/>
              </a:pPr>
              <a:r>
                <a:rPr lang="en-US" dirty="0">
                  <a:solidFill>
                    <a:srgbClr val="0070C0"/>
                  </a:solidFill>
                  <a:latin typeface="Courier" charset="0"/>
                  <a:ea typeface="Courier" charset="0"/>
                  <a:cs typeface="Courier" charset="0"/>
                </a:rPr>
                <a:t>int 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______ (</a:t>
              </a:r>
              <a:r>
                <a:rPr lang="en-US" dirty="0">
                  <a:solidFill>
                    <a:srgbClr val="0070C0"/>
                  </a:solidFill>
                  <a:latin typeface="Courier" charset="0"/>
                  <a:ea typeface="Courier" charset="0"/>
                  <a:cs typeface="Courier" charset="0"/>
                </a:rPr>
                <a:t>vector&lt;int&gt; </a:t>
              </a:r>
              <a:r>
                <a:rPr lang="en-US" dirty="0" err="1">
                  <a:solidFill>
                    <a:schemeClr val="tx1"/>
                  </a:solidFill>
                  <a:latin typeface="Courier" charset="0"/>
                  <a:ea typeface="Courier" charset="0"/>
                  <a:cs typeface="Courier" charset="0"/>
                </a:rPr>
                <a:t>arr</a:t>
              </a:r>
              <a:r>
                <a:rPr lang="en-US" dirty="0">
                  <a:solidFill>
                    <a:schemeClr val="tx1"/>
                  </a:solidFill>
                  <a:latin typeface="Courier" charset="0"/>
                  <a:ea typeface="Courier" charset="0"/>
                  <a:cs typeface="Courier" charset="0"/>
                </a:rPr>
                <a:t>,</a:t>
              </a:r>
              <a:r>
                <a:rPr lang="en-US" dirty="0">
                  <a:solidFill>
                    <a:srgbClr val="0070C0"/>
                  </a:solidFill>
                  <a:latin typeface="Courier" charset="0"/>
                  <a:ea typeface="Courier" charset="0"/>
                  <a:cs typeface="Courier" charset="0"/>
                </a:rPr>
                <a:t> int 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q){</a:t>
              </a:r>
            </a:p>
            <a:p>
              <a:pPr marL="40640" indent="0">
                <a:buNone/>
              </a:pP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	</a:t>
              </a:r>
              <a:r>
                <a:rPr lang="en-US" dirty="0">
                  <a:solidFill>
                    <a:srgbClr val="0070C0"/>
                  </a:solidFill>
                  <a:latin typeface="Courier" charset="0"/>
                  <a:ea typeface="Courier" charset="0"/>
                  <a:cs typeface="Courier" charset="0"/>
                </a:rPr>
                <a:t>for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 (</a:t>
              </a:r>
              <a:r>
                <a:rPr lang="en-US" dirty="0" err="1">
                  <a:solidFill>
                    <a:srgbClr val="0070C0"/>
                  </a:solidFill>
                  <a:latin typeface="Courier" charset="0"/>
                  <a:ea typeface="Courier" charset="0"/>
                  <a:cs typeface="Courier" charset="0"/>
                </a:rPr>
                <a:t>int</a:t>
              </a:r>
              <a:r>
                <a:rPr lang="en-US" dirty="0">
                  <a:solidFill>
                    <a:srgbClr val="0070C0"/>
                  </a:solidFill>
                  <a:latin typeface="Courier" charset="0"/>
                  <a:ea typeface="Courier" charset="0"/>
                  <a:cs typeface="Courier" charset="0"/>
                </a:rPr>
                <a:t> </a:t>
              </a:r>
              <a:r>
                <a:rPr lang="en-US" dirty="0" err="1">
                  <a:latin typeface="Courier" charset="0"/>
                  <a:ea typeface="Courier" charset="0"/>
                  <a:cs typeface="Courier" charset="0"/>
                </a:rPr>
                <a:t>i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 = 0; </a:t>
              </a:r>
              <a:r>
                <a:rPr lang="en-US" dirty="0" err="1">
                  <a:latin typeface="Courier" charset="0"/>
                  <a:ea typeface="Courier" charset="0"/>
                  <a:cs typeface="Courier" charset="0"/>
                </a:rPr>
                <a:t>i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 &lt; </a:t>
              </a:r>
              <a:r>
                <a:rPr lang="en-US" dirty="0" err="1">
                  <a:latin typeface="Courier" charset="0"/>
                  <a:ea typeface="Courier" charset="0"/>
                  <a:cs typeface="Courier" charset="0"/>
                </a:rPr>
                <a:t>arr.size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(); </a:t>
              </a:r>
              <a:r>
                <a:rPr lang="en-US" dirty="0" err="1">
                  <a:latin typeface="Courier" charset="0"/>
                  <a:ea typeface="Courier" charset="0"/>
                  <a:cs typeface="Courier" charset="0"/>
                </a:rPr>
                <a:t>i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++)</a:t>
              </a:r>
            </a:p>
            <a:p>
              <a:pPr marL="40640" indent="0">
                <a:buNone/>
              </a:pP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		</a:t>
              </a:r>
              <a:r>
                <a:rPr lang="en-US" dirty="0">
                  <a:solidFill>
                    <a:srgbClr val="0070C0"/>
                  </a:solidFill>
                  <a:latin typeface="Courier" charset="0"/>
                  <a:ea typeface="Courier" charset="0"/>
                  <a:cs typeface="Courier" charset="0"/>
                </a:rPr>
                <a:t>if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 (</a:t>
              </a:r>
              <a:r>
                <a:rPr lang="en-US" dirty="0" err="1">
                  <a:latin typeface="Courier" charset="0"/>
                  <a:ea typeface="Courier" charset="0"/>
                  <a:cs typeface="Courier" charset="0"/>
                </a:rPr>
                <a:t>arr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[</a:t>
              </a:r>
              <a:r>
                <a:rPr lang="en-US" dirty="0" err="1">
                  <a:latin typeface="Courier" charset="0"/>
                  <a:ea typeface="Courier" charset="0"/>
                  <a:cs typeface="Courier" charset="0"/>
                </a:rPr>
                <a:t>i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] == q)</a:t>
              </a:r>
            </a:p>
            <a:p>
              <a:pPr marL="40640" indent="0">
                <a:buNone/>
              </a:pP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			</a:t>
              </a:r>
              <a:r>
                <a:rPr lang="en-US" dirty="0">
                  <a:solidFill>
                    <a:srgbClr val="0070C0"/>
                  </a:solidFill>
                  <a:latin typeface="Courier" charset="0"/>
                  <a:ea typeface="Courier" charset="0"/>
                  <a:cs typeface="Courier" charset="0"/>
                </a:rPr>
                <a:t>return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 </a:t>
              </a:r>
              <a:r>
                <a:rPr lang="en-US" dirty="0" err="1">
                  <a:latin typeface="Courier" charset="0"/>
                  <a:ea typeface="Courier" charset="0"/>
                  <a:cs typeface="Courier" charset="0"/>
                </a:rPr>
                <a:t>i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;</a:t>
              </a:r>
            </a:p>
            <a:p>
              <a:pPr marL="40640" indent="0">
                <a:buNone/>
              </a:pP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	</a:t>
              </a:r>
              <a:r>
                <a:rPr lang="en-US" dirty="0">
                  <a:solidFill>
                    <a:srgbClr val="0070C0"/>
                  </a:solidFill>
                  <a:latin typeface="Courier" charset="0"/>
                  <a:ea typeface="Courier" charset="0"/>
                  <a:cs typeface="Courier" charset="0"/>
                </a:rPr>
                <a:t>return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 </a:t>
              </a:r>
              <a:r>
                <a:rPr lang="en-US" dirty="0">
                  <a:solidFill>
                    <a:srgbClr val="FF0000"/>
                  </a:solidFill>
                  <a:latin typeface="Courier" charset="0"/>
                  <a:ea typeface="Courier" charset="0"/>
                  <a:cs typeface="Courier" charset="0"/>
                </a:rPr>
                <a:t>-1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;</a:t>
              </a:r>
            </a:p>
            <a:p>
              <a:pPr marL="40640" indent="0">
                <a:buNone/>
              </a:pP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}</a:t>
              </a:r>
              <a:endParaRPr lang="en-CA" dirty="0">
                <a:latin typeface="Courier" charset="0"/>
                <a:ea typeface="Courier" charset="0"/>
                <a:cs typeface="Courier" charset="0"/>
              </a:endParaRP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CCDFA6A8-E9FF-604E-92BE-50A878B093BE}"/>
                </a:ext>
              </a:extLst>
            </p:cNvPr>
            <p:cNvSpPr/>
            <p:nvPr/>
          </p:nvSpPr>
          <p:spPr>
            <a:xfrm>
              <a:off x="195072" y="1908048"/>
              <a:ext cx="478536" cy="2363430"/>
            </a:xfrm>
            <a:prstGeom prst="roundRect">
              <a:avLst/>
            </a:prstGeom>
            <a:solidFill>
              <a:schemeClr val="bg1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t">
              <a:spAutoFit/>
            </a:bodyPr>
            <a:lstStyle/>
            <a:p>
              <a:pPr marL="40639" marR="40639" indent="0" algn="r" defTabSz="914400" rtl="0" fontAlgn="auto" latinLnBrk="1" hangingPunct="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Courier" charset="0"/>
                  <a:ea typeface="Courier" charset="0"/>
                  <a:cs typeface="Courier" charset="0"/>
                  <a:sym typeface="Arial"/>
                </a:rPr>
                <a:t>1</a:t>
              </a:r>
            </a:p>
            <a:p>
              <a:pPr marL="40639" marR="40639" indent="0" algn="r" defTabSz="914400" rtl="0" fontAlgn="auto" latinLnBrk="1" hangingPunct="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Courier" charset="0"/>
                  <a:ea typeface="Courier" charset="0"/>
                  <a:cs typeface="Courier" charset="0"/>
                </a:rPr>
                <a:t>2</a:t>
              </a:r>
            </a:p>
            <a:p>
              <a:pPr marL="40639" marR="40639" indent="0" algn="r" defTabSz="914400" rtl="0" fontAlgn="auto" latinLnBrk="1" hangingPunct="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Courier" charset="0"/>
                  <a:ea typeface="Courier" charset="0"/>
                  <a:cs typeface="Courier" charset="0"/>
                  <a:sym typeface="Arial"/>
                </a:rPr>
                <a:t>3</a:t>
              </a:r>
            </a:p>
            <a:p>
              <a:pPr marL="40639" marR="40639" indent="0" algn="r" defTabSz="914400" rtl="0" fontAlgn="auto" latinLnBrk="1" hangingPunct="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Courier" charset="0"/>
                  <a:ea typeface="Courier" charset="0"/>
                  <a:cs typeface="Courier" charset="0"/>
                </a:rPr>
                <a:t>4</a:t>
              </a:r>
            </a:p>
            <a:p>
              <a:pPr marL="40639" marR="40639" indent="0" algn="r" defTabSz="914400" rtl="0" fontAlgn="auto" latinLnBrk="1" hangingPunct="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Courier" charset="0"/>
                  <a:ea typeface="Courier" charset="0"/>
                  <a:cs typeface="Courier" charset="0"/>
                  <a:sym typeface="Arial"/>
                </a:rPr>
                <a:t>5</a:t>
              </a:r>
            </a:p>
            <a:p>
              <a:pPr marL="40639" marR="40639" indent="0" algn="r" defTabSz="914400" rtl="0" fontAlgn="auto" latinLnBrk="1" hangingPunct="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Courier" charset="0"/>
                  <a:ea typeface="Courier" charset="0"/>
                  <a:cs typeface="Courier" charset="0"/>
                </a:rPr>
                <a:t>6</a:t>
              </a:r>
              <a:endParaRPr kumimoji="0" lang="en-US" sz="24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ourier" charset="0"/>
                <a:ea typeface="Courier" charset="0"/>
                <a:cs typeface="Courier" charset="0"/>
                <a:sym typeface="Arial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350520"/>
            <a:ext cx="7772400" cy="1600200"/>
          </a:xfrm>
        </p:spPr>
        <p:txBody>
          <a:bodyPr/>
          <a:lstStyle/>
          <a:p>
            <a:pPr algn="l"/>
            <a:r>
              <a:rPr lang="en-US" dirty="0">
                <a:latin typeface="Abadi MT Condensed Light" charset="0"/>
                <a:ea typeface="Abadi MT Condensed Light" charset="0"/>
                <a:cs typeface="Abadi MT Condensed Light" charset="0"/>
              </a:rPr>
              <a:t>Algorithmic Analysis Discussion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685800" y="3747222"/>
            <a:ext cx="7772400" cy="2260386"/>
          </a:xfrm>
        </p:spPr>
        <p:txBody>
          <a:bodyPr/>
          <a:lstStyle/>
          <a:p>
            <a:pPr marL="40640" indent="0">
              <a:buNone/>
            </a:pPr>
            <a:r>
              <a:rPr lang="en-US" dirty="0">
                <a:latin typeface="Abadi MT Condensed Light" charset="0"/>
                <a:ea typeface="Abadi MT Condensed Light" charset="0"/>
                <a:cs typeface="Abadi MT Condensed Light" charset="0"/>
              </a:rPr>
              <a:t>How many lines are executed ________?</a:t>
            </a:r>
          </a:p>
          <a:p>
            <a:pPr marL="40640" indent="0">
              <a:buNone/>
            </a:pPr>
            <a:r>
              <a:rPr lang="en-US" dirty="0">
                <a:latin typeface="Abadi MT Condensed Light" charset="0"/>
                <a:ea typeface="Abadi MT Condensed Light" charset="0"/>
                <a:cs typeface="Abadi MT Condensed Light" charset="0"/>
              </a:rPr>
              <a:t>T(n) = ________</a:t>
            </a:r>
          </a:p>
          <a:p>
            <a:pPr marL="40640" indent="0">
              <a:buNone/>
            </a:pPr>
            <a:r>
              <a:rPr lang="en-US" dirty="0">
                <a:latin typeface="Abadi MT Condensed Light" charset="0"/>
                <a:ea typeface="Abadi MT Condensed Light" charset="0"/>
                <a:cs typeface="Abadi MT Condensed Light" charset="0"/>
              </a:rPr>
              <a:t>Discussion:</a:t>
            </a:r>
          </a:p>
        </p:txBody>
      </p:sp>
    </p:spTree>
    <p:extLst>
      <p:ext uri="{BB962C8B-B14F-4D97-AF65-F5344CB8AC3E}">
        <p14:creationId xmlns:p14="http://schemas.microsoft.com/office/powerpoint/2010/main" val="3464910837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48497"/>
            <a:ext cx="7772400" cy="1600200"/>
          </a:xfrm>
        </p:spPr>
        <p:txBody>
          <a:bodyPr/>
          <a:lstStyle/>
          <a:p>
            <a:pPr algn="l"/>
            <a:r>
              <a:rPr lang="en-US" dirty="0">
                <a:latin typeface="Abadi MT Condensed Light" charset="0"/>
                <a:ea typeface="Abadi MT Condensed Light" charset="0"/>
                <a:cs typeface="Abadi MT Condensed Light" charset="0"/>
              </a:rPr>
              <a:t>Aside on </a:t>
            </a:r>
            <a:r>
              <a:rPr lang="en-US" dirty="0" err="1">
                <a:latin typeface="Abadi MT Condensed Light" charset="0"/>
                <a:ea typeface="Abadi MT Condensed Light" charset="0"/>
                <a:cs typeface="Abadi MT Condensed Light" charset="0"/>
              </a:rPr>
              <a:t>Asymptotics</a:t>
            </a:r>
            <a:endParaRPr lang="en-US" dirty="0">
              <a:latin typeface="Abadi MT Condensed Light" charset="0"/>
              <a:ea typeface="Abadi MT Condensed Light" charset="0"/>
              <a:cs typeface="Abadi MT Condensed Light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/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85800" y="1551703"/>
                <a:ext cx="8031480" cy="4876800"/>
              </a:xfrm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>
                    <a:latin typeface="Abadi MT Condensed Light" charset="0"/>
                    <a:ea typeface="Abadi MT Condensed Light" charset="0"/>
                    <a:cs typeface="Abadi MT Condensed Light" charset="0"/>
                  </a:rPr>
                  <a:t>Defn: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charset="0"/>
                        <a:ea typeface="Abadi MT Condensed Light" charset="0"/>
                        <a:cs typeface="Abadi MT Condensed Light" charset="0"/>
                      </a:rPr>
                      <m:t> </m:t>
                    </m:r>
                    <m:r>
                      <a:rPr lang="en-CA" i="1">
                        <a:solidFill>
                          <a:schemeClr val="tx1"/>
                        </a:solidFill>
                        <a:latin typeface="Cambria Math" charset="0"/>
                        <a:ea typeface="Abadi MT Condensed Light" charset="0"/>
                        <a:cs typeface="Abadi MT Condensed Light" charset="0"/>
                      </a:rPr>
                      <m:t>𝑇</m:t>
                    </m:r>
                    <m:d>
                      <m:dPr>
                        <m:ctrlP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badi MT Condensed Light" charset="0"/>
                            <a:cs typeface="Abadi MT Condensed Light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tx1"/>
                            </a:solidFill>
                            <a:latin typeface="Cambria Math" charset="0"/>
                            <a:ea typeface="Abadi MT Condensed Light" charset="0"/>
                            <a:cs typeface="Abadi MT Condensed Light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charset="0"/>
                        <a:ea typeface="Abadi MT Condensed Light" charset="0"/>
                        <a:cs typeface="Abadi MT Condensed Light" charset="0"/>
                      </a:rPr>
                      <m:t>=</m:t>
                    </m:r>
                    <m:r>
                      <a:rPr lang="en-CA" i="1">
                        <a:solidFill>
                          <a:schemeClr val="tx1"/>
                        </a:solidFill>
                        <a:latin typeface="Cambria Math" charset="0"/>
                        <a:ea typeface="Abadi MT Condensed Light" charset="0"/>
                        <a:cs typeface="Abadi MT Condensed Light" charset="0"/>
                      </a:rPr>
                      <m:t>𝑂</m:t>
                    </m:r>
                    <m:d>
                      <m:dPr>
                        <m:ctrlP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badi MT Condensed Light" charset="0"/>
                            <a:cs typeface="Abadi MT Condensed Light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tx1"/>
                            </a:solidFill>
                            <a:latin typeface="Cambria Math" charset="0"/>
                            <a:ea typeface="Abadi MT Condensed Light" charset="0"/>
                            <a:cs typeface="Abadi MT Condensed Light" charset="0"/>
                          </a:rPr>
                          <m:t>𝑓</m:t>
                        </m:r>
                        <m:d>
                          <m:dPr>
                            <m:ctrlPr>
                              <a:rPr lang="en-CA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Abadi MT Condensed Light" charset="0"/>
                                <a:cs typeface="Abadi MT Condensed Light" charset="0"/>
                              </a:rPr>
                            </m:ctrlPr>
                          </m:dPr>
                          <m:e>
                            <m:r>
                              <a:rPr lang="en-CA" i="1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Abadi MT Condensed Light" charset="0"/>
                                <a:cs typeface="Abadi MT Condensed Light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CA" dirty="0">
                    <a:solidFill>
                      <a:schemeClr val="tx1"/>
                    </a:solidFill>
                    <a:latin typeface="Abadi MT Condensed Light" charset="0"/>
                    <a:ea typeface="Abadi MT Condensed Light" charset="0"/>
                    <a:cs typeface="Abadi MT Condensed Light" charset="0"/>
                  </a:rPr>
                  <a:t> if there are positive constants </a:t>
                </a:r>
                <a14:m>
                  <m:oMath xmlns:m="http://schemas.openxmlformats.org/officeDocument/2006/math">
                    <m:r>
                      <a:rPr lang="en-CA" i="1">
                        <a:solidFill>
                          <a:schemeClr val="tx1"/>
                        </a:solidFill>
                        <a:latin typeface="Cambria Math" charset="0"/>
                        <a:ea typeface="Abadi MT Condensed Light" charset="0"/>
                        <a:cs typeface="Abadi MT Condensed Light" charset="0"/>
                      </a:rPr>
                      <m:t>𝑐</m:t>
                    </m:r>
                  </m:oMath>
                </a14:m>
                <a:r>
                  <a:rPr lang="en-CA" dirty="0">
                    <a:solidFill>
                      <a:schemeClr val="tx1"/>
                    </a:solidFill>
                    <a:latin typeface="Abadi MT Condensed Light" charset="0"/>
                    <a:ea typeface="Abadi MT Condensed Light" charset="0"/>
                    <a:cs typeface="Abadi MT Condensed Light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badi MT Condensed Light" charset="0"/>
                            <a:cs typeface="Abadi MT Condensed Light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schemeClr val="tx1"/>
                            </a:solidFill>
                            <a:latin typeface="Cambria Math" charset="0"/>
                            <a:ea typeface="Abadi MT Condensed Light" charset="0"/>
                            <a:cs typeface="Abadi MT Condensed Light" charset="0"/>
                          </a:rPr>
                          <m:t>𝑛</m:t>
                        </m:r>
                      </m:e>
                      <m:sub>
                        <m:r>
                          <a:rPr lang="en-CA" i="1">
                            <a:solidFill>
                              <a:schemeClr val="tx1"/>
                            </a:solidFill>
                            <a:latin typeface="Cambria Math" charset="0"/>
                            <a:ea typeface="Abadi MT Condensed Light" charset="0"/>
                            <a:cs typeface="Abadi MT Condensed Light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CA" dirty="0">
                    <a:solidFill>
                      <a:schemeClr val="tx1"/>
                    </a:solidFill>
                    <a:latin typeface="Abadi MT Condensed Light" charset="0"/>
                    <a:ea typeface="Abadi MT Condensed Light" charset="0"/>
                    <a:cs typeface="Abadi MT Condensed Light" charset="0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CA" i="1">
                        <a:solidFill>
                          <a:schemeClr val="tx1"/>
                        </a:solidFill>
                        <a:latin typeface="Cambria Math" charset="0"/>
                        <a:ea typeface="Abadi MT Condensed Light" charset="0"/>
                        <a:cs typeface="Abadi MT Condensed Light" charset="0"/>
                      </a:rPr>
                      <m:t>𝑇</m:t>
                    </m:r>
                    <m:d>
                      <m:dPr>
                        <m:ctrlP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badi MT Condensed Light" charset="0"/>
                            <a:cs typeface="Abadi MT Condensed Light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tx1"/>
                            </a:solidFill>
                            <a:latin typeface="Cambria Math" charset="0"/>
                            <a:ea typeface="Abadi MT Condensed Light" charset="0"/>
                            <a:cs typeface="Abadi MT Condensed Light" charset="0"/>
                          </a:rPr>
                          <m:t>𝑛</m:t>
                        </m:r>
                      </m:e>
                    </m:d>
                    <m:r>
                      <a:rPr lang="en-CA" i="1">
                        <a:solidFill>
                          <a:schemeClr val="tx1"/>
                        </a:solidFill>
                        <a:latin typeface="Cambria Math" charset="0"/>
                        <a:ea typeface="Abadi MT Condensed Light" charset="0"/>
                        <a:cs typeface="Abadi MT Condensed Light" charset="0"/>
                      </a:rPr>
                      <m:t>≤</m:t>
                    </m:r>
                    <m:r>
                      <a:rPr lang="en-CA" i="1">
                        <a:solidFill>
                          <a:schemeClr val="tx1"/>
                        </a:solidFill>
                        <a:latin typeface="Cambria Math" charset="0"/>
                        <a:ea typeface="Abadi MT Condensed Light" charset="0"/>
                        <a:cs typeface="Abadi MT Condensed Light" charset="0"/>
                      </a:rPr>
                      <m:t>𝑐</m:t>
                    </m:r>
                    <m:r>
                      <a:rPr lang="en-CA" i="1">
                        <a:solidFill>
                          <a:schemeClr val="tx1"/>
                        </a:solidFill>
                        <a:latin typeface="Cambria Math" charset="0"/>
                        <a:ea typeface="Abadi MT Condensed Light" charset="0"/>
                        <a:cs typeface="Abadi MT Condensed Light" charset="0"/>
                      </a:rPr>
                      <m:t>∙</m:t>
                    </m:r>
                    <m:r>
                      <a:rPr lang="en-CA" i="1">
                        <a:solidFill>
                          <a:schemeClr val="tx1"/>
                        </a:solidFill>
                        <a:latin typeface="Cambria Math" charset="0"/>
                        <a:ea typeface="Abadi MT Condensed Light" charset="0"/>
                        <a:cs typeface="Abadi MT Condensed Light" charset="0"/>
                      </a:rPr>
                      <m:t>𝑓</m:t>
                    </m:r>
                    <m:d>
                      <m:dPr>
                        <m:ctrlP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badi MT Condensed Light" charset="0"/>
                            <a:cs typeface="Abadi MT Condensed Light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tx1"/>
                            </a:solidFill>
                            <a:latin typeface="Cambria Math" charset="0"/>
                            <a:ea typeface="Abadi MT Condensed Light" charset="0"/>
                            <a:cs typeface="Abadi MT Condensed Light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CA" dirty="0">
                    <a:solidFill>
                      <a:schemeClr val="tx1"/>
                    </a:solidFill>
                    <a:latin typeface="Abadi MT Condensed Light" charset="0"/>
                    <a:ea typeface="Abadi MT Condensed Light" charset="0"/>
                    <a:cs typeface="Abadi MT Condensed Light" charset="0"/>
                  </a:rPr>
                  <a:t> for all </a:t>
                </a:r>
                <a14:m>
                  <m:oMath xmlns:m="http://schemas.openxmlformats.org/officeDocument/2006/math">
                    <m:r>
                      <a:rPr lang="en-CA" i="1">
                        <a:solidFill>
                          <a:schemeClr val="tx1"/>
                        </a:solidFill>
                        <a:latin typeface="Cambria Math" charset="0"/>
                        <a:ea typeface="Abadi MT Condensed Light" charset="0"/>
                        <a:cs typeface="Abadi MT Condensed Light" charset="0"/>
                      </a:rPr>
                      <m:t>𝑛</m:t>
                    </m:r>
                    <m:r>
                      <a:rPr lang="en-CA" i="1">
                        <a:solidFill>
                          <a:schemeClr val="tx1"/>
                        </a:solidFill>
                        <a:latin typeface="Cambria Math" charset="0"/>
                        <a:ea typeface="Abadi MT Condensed Light" charset="0"/>
                        <a:cs typeface="Abadi MT Condensed Light" charset="0"/>
                      </a:rPr>
                      <m:t>≥</m:t>
                    </m:r>
                    <m:sSub>
                      <m:sSubPr>
                        <m:ctrlP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badi MT Condensed Light" charset="0"/>
                            <a:cs typeface="Abadi MT Condensed Light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schemeClr val="tx1"/>
                            </a:solidFill>
                            <a:latin typeface="Cambria Math" charset="0"/>
                            <a:ea typeface="Abadi MT Condensed Light" charset="0"/>
                            <a:cs typeface="Abadi MT Condensed Light" charset="0"/>
                          </a:rPr>
                          <m:t>𝑛</m:t>
                        </m:r>
                      </m:e>
                      <m:sub>
                        <m:r>
                          <a:rPr lang="en-CA" i="1">
                            <a:solidFill>
                              <a:schemeClr val="tx1"/>
                            </a:solidFill>
                            <a:latin typeface="Cambria Math" charset="0"/>
                            <a:ea typeface="Abadi MT Condensed Light" charset="0"/>
                            <a:cs typeface="Abadi MT Condensed Light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latin typeface="Abadi MT Condensed Light" charset="0"/>
                    <a:ea typeface="Abadi MT Condensed Light" charset="0"/>
                    <a:cs typeface="Abadi MT Condensed Light" charset="0"/>
                  </a:rPr>
                  <a:t>.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>
                  <a:latin typeface="Abadi MT Condensed Light" charset="0"/>
                  <a:ea typeface="Abadi MT Condensed Light" charset="0"/>
                  <a:cs typeface="Abadi MT Condensed Light" charset="0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>
                  <a:latin typeface="Abadi MT Condensed Light" charset="0"/>
                  <a:ea typeface="Abadi MT Condensed Light" charset="0"/>
                  <a:cs typeface="Abadi MT Condensed Light" charset="0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>
                  <a:latin typeface="Abadi MT Condensed Light" charset="0"/>
                  <a:ea typeface="Abadi MT Condensed Light" charset="0"/>
                  <a:cs typeface="Abadi MT Condensed Light" charset="0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>
                  <a:latin typeface="Abadi MT Condensed Light" charset="0"/>
                  <a:ea typeface="Abadi MT Condensed Light" charset="0"/>
                  <a:cs typeface="Abadi MT Condensed Light" charset="0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>
                  <a:latin typeface="Abadi MT Condensed Light" charset="0"/>
                  <a:ea typeface="Abadi MT Condensed Light" charset="0"/>
                  <a:cs typeface="Abadi MT Condensed Light" charset="0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>
                  <a:latin typeface="Abadi MT Condensed Light" charset="0"/>
                  <a:ea typeface="Abadi MT Condensed Light" charset="0"/>
                  <a:cs typeface="Abadi MT Condensed Light" charset="0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>
                    <a:latin typeface="Abadi MT Condensed Light" charset="0"/>
                    <a:ea typeface="Abadi MT Condensed Light" charset="0"/>
                    <a:cs typeface="Abadi MT Condensed Light" charset="0"/>
                  </a:rPr>
                  <a:t>We typically use f(n) to describe…</a:t>
                </a:r>
              </a:p>
            </p:txBody>
          </p:sp>
        </mc:Choice>
        <mc:Fallback xmlns="">
          <p:sp>
            <p:nvSpPr>
              <p:cNvPr id="3" name="Tex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800" y="1551703"/>
                <a:ext cx="8031480" cy="4876800"/>
              </a:xfrm>
              <a:blipFill>
                <a:blip r:embed="rId3"/>
                <a:stretch>
                  <a:fillRect l="-3002" t="-1299" r="-1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/>
          <p:cNvCxnSpPr/>
          <p:nvPr/>
        </p:nvCxnSpPr>
        <p:spPr>
          <a:xfrm flipV="1">
            <a:off x="2694432" y="2862343"/>
            <a:ext cx="0" cy="2267712"/>
          </a:xfrm>
          <a:prstGeom prst="straightConnector1">
            <a:avLst/>
          </a:prstGeom>
          <a:noFill/>
          <a:ln w="38100" cap="flat">
            <a:solidFill>
              <a:schemeClr val="accent6"/>
            </a:solidFill>
            <a:prstDash val="solid"/>
            <a:round/>
            <a:headEnd w="lg" len="med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" name="Straight Arrow Connector 6"/>
          <p:cNvCxnSpPr/>
          <p:nvPr/>
        </p:nvCxnSpPr>
        <p:spPr>
          <a:xfrm>
            <a:off x="2694432" y="5142247"/>
            <a:ext cx="3803904" cy="0"/>
          </a:xfrm>
          <a:prstGeom prst="straightConnector1">
            <a:avLst/>
          </a:prstGeom>
          <a:noFill/>
          <a:ln w="38100" cap="flat">
            <a:solidFill>
              <a:schemeClr val="accent6"/>
            </a:solidFill>
            <a:prstDash val="solid"/>
            <a:round/>
            <a:headEnd w="lg" len="med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468467006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41655F-4E1C-D942-9179-F92EE478433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519" b="9960"/>
          <a:stretch/>
        </p:blipFill>
        <p:spPr>
          <a:xfrm>
            <a:off x="110838" y="1496293"/>
            <a:ext cx="8936182" cy="5056909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9D3F391-BE11-C749-9E38-305380F80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-48497"/>
            <a:ext cx="7772400" cy="1600200"/>
          </a:xfrm>
        </p:spPr>
        <p:txBody>
          <a:bodyPr/>
          <a:lstStyle/>
          <a:p>
            <a:pPr algn="l"/>
            <a:r>
              <a:rPr lang="en-US" dirty="0">
                <a:latin typeface="Abadi MT Condensed Light" charset="0"/>
                <a:ea typeface="Abadi MT Condensed Light" charset="0"/>
                <a:cs typeface="Abadi MT Condensed Light" charset="0"/>
              </a:rPr>
              <a:t>Asymptotic definitions</a:t>
            </a:r>
          </a:p>
        </p:txBody>
      </p:sp>
    </p:spTree>
    <p:extLst>
      <p:ext uri="{BB962C8B-B14F-4D97-AF65-F5344CB8AC3E}">
        <p14:creationId xmlns:p14="http://schemas.microsoft.com/office/powerpoint/2010/main" val="2650445267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C8DFE60-78D6-C74F-A4EE-9050D149B1CF}"/>
              </a:ext>
            </a:extLst>
          </p:cNvPr>
          <p:cNvGrpSpPr/>
          <p:nvPr/>
        </p:nvGrpSpPr>
        <p:grpSpPr>
          <a:xfrm>
            <a:off x="188976" y="933235"/>
            <a:ext cx="8766048" cy="2363430"/>
            <a:chOff x="195072" y="1908048"/>
            <a:chExt cx="8766048" cy="2363430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538F4A0F-D735-8144-86AB-4F691779443A}"/>
                </a:ext>
              </a:extLst>
            </p:cNvPr>
            <p:cNvSpPr/>
            <p:nvPr/>
          </p:nvSpPr>
          <p:spPr>
            <a:xfrm>
              <a:off x="685800" y="1908048"/>
              <a:ext cx="8275320" cy="2341007"/>
            </a:xfrm>
            <a:prstGeom prst="roundRect">
              <a:avLst>
                <a:gd name="adj" fmla="val 2291"/>
              </a:avLst>
            </a:prstGeom>
            <a:solidFill>
              <a:srgbClr val="C6E6E9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t">
              <a:spAutoFit/>
            </a:bodyPr>
            <a:lstStyle/>
            <a:p>
              <a:pPr marL="40640" indent="0">
                <a:buNone/>
              </a:pPr>
              <a:r>
                <a:rPr lang="en-US" dirty="0" err="1">
                  <a:solidFill>
                    <a:srgbClr val="0070C0"/>
                  </a:solidFill>
                  <a:latin typeface="Courier" charset="0"/>
                  <a:ea typeface="Courier" charset="0"/>
                  <a:cs typeface="Courier" charset="0"/>
                </a:rPr>
                <a:t>int</a:t>
              </a:r>
              <a:r>
                <a:rPr lang="en-US" dirty="0">
                  <a:solidFill>
                    <a:srgbClr val="0070C0"/>
                  </a:solidFill>
                  <a:latin typeface="Courier" charset="0"/>
                  <a:ea typeface="Courier" charset="0"/>
                  <a:cs typeface="Courier" charset="0"/>
                </a:rPr>
                <a:t> 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______ (</a:t>
              </a:r>
              <a:r>
                <a:rPr lang="en-US" dirty="0">
                  <a:solidFill>
                    <a:srgbClr val="0070C0"/>
                  </a:solidFill>
                  <a:latin typeface="Courier" charset="0"/>
                  <a:ea typeface="Courier" charset="0"/>
                  <a:cs typeface="Courier" charset="0"/>
                </a:rPr>
                <a:t>vector&lt;</a:t>
              </a:r>
              <a:r>
                <a:rPr lang="en-US" dirty="0" err="1">
                  <a:solidFill>
                    <a:srgbClr val="0070C0"/>
                  </a:solidFill>
                  <a:latin typeface="Courier" charset="0"/>
                  <a:ea typeface="Courier" charset="0"/>
                  <a:cs typeface="Courier" charset="0"/>
                </a:rPr>
                <a:t>int</a:t>
              </a:r>
              <a:r>
                <a:rPr lang="en-US" dirty="0">
                  <a:solidFill>
                    <a:srgbClr val="0070C0"/>
                  </a:solidFill>
                  <a:latin typeface="Courier" charset="0"/>
                  <a:ea typeface="Courier" charset="0"/>
                  <a:cs typeface="Courier" charset="0"/>
                </a:rPr>
                <a:t>&gt; </a:t>
              </a:r>
              <a:r>
                <a:rPr lang="en-US" dirty="0" err="1">
                  <a:solidFill>
                    <a:schemeClr val="tx1"/>
                  </a:solidFill>
                  <a:latin typeface="Courier" charset="0"/>
                  <a:ea typeface="Courier" charset="0"/>
                  <a:cs typeface="Courier" charset="0"/>
                </a:rPr>
                <a:t>arr</a:t>
              </a:r>
              <a:r>
                <a:rPr lang="en-US" dirty="0">
                  <a:solidFill>
                    <a:schemeClr val="tx1"/>
                  </a:solidFill>
                  <a:latin typeface="Courier" charset="0"/>
                  <a:ea typeface="Courier" charset="0"/>
                  <a:cs typeface="Courier" charset="0"/>
                </a:rPr>
                <a:t>,</a:t>
              </a:r>
              <a:r>
                <a:rPr lang="en-US" dirty="0">
                  <a:solidFill>
                    <a:srgbClr val="0070C0"/>
                  </a:solidFill>
                  <a:latin typeface="Courier" charset="0"/>
                  <a:ea typeface="Courier" charset="0"/>
                  <a:cs typeface="Courier" charset="0"/>
                </a:rPr>
                <a:t> </a:t>
              </a:r>
              <a:r>
                <a:rPr lang="en-US" dirty="0" err="1">
                  <a:solidFill>
                    <a:srgbClr val="0070C0"/>
                  </a:solidFill>
                  <a:latin typeface="Courier" charset="0"/>
                  <a:ea typeface="Courier" charset="0"/>
                  <a:cs typeface="Courier" charset="0"/>
                </a:rPr>
                <a:t>int</a:t>
              </a:r>
              <a:r>
                <a:rPr lang="en-US" dirty="0">
                  <a:solidFill>
                    <a:srgbClr val="0070C0"/>
                  </a:solidFill>
                  <a:latin typeface="Courier" charset="0"/>
                  <a:ea typeface="Courier" charset="0"/>
                  <a:cs typeface="Courier" charset="0"/>
                </a:rPr>
                <a:t> 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query){</a:t>
              </a:r>
            </a:p>
            <a:p>
              <a:pPr marL="40640" indent="0">
                <a:buNone/>
              </a:pP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	</a:t>
              </a:r>
              <a:r>
                <a:rPr lang="en-US" dirty="0">
                  <a:solidFill>
                    <a:srgbClr val="0070C0"/>
                  </a:solidFill>
                  <a:latin typeface="Courier" charset="0"/>
                  <a:ea typeface="Courier" charset="0"/>
                  <a:cs typeface="Courier" charset="0"/>
                </a:rPr>
                <a:t>for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 (</a:t>
              </a:r>
              <a:r>
                <a:rPr lang="en-US" dirty="0" err="1">
                  <a:solidFill>
                    <a:srgbClr val="0070C0"/>
                  </a:solidFill>
                  <a:latin typeface="Courier" charset="0"/>
                  <a:ea typeface="Courier" charset="0"/>
                  <a:cs typeface="Courier" charset="0"/>
                </a:rPr>
                <a:t>int</a:t>
              </a:r>
              <a:r>
                <a:rPr lang="en-US" dirty="0">
                  <a:solidFill>
                    <a:srgbClr val="0070C0"/>
                  </a:solidFill>
                  <a:latin typeface="Courier" charset="0"/>
                  <a:ea typeface="Courier" charset="0"/>
                  <a:cs typeface="Courier" charset="0"/>
                </a:rPr>
                <a:t> </a:t>
              </a:r>
              <a:r>
                <a:rPr lang="en-US" dirty="0" err="1">
                  <a:latin typeface="Courier" charset="0"/>
                  <a:ea typeface="Courier" charset="0"/>
                  <a:cs typeface="Courier" charset="0"/>
                </a:rPr>
                <a:t>i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 = 0; </a:t>
              </a:r>
              <a:r>
                <a:rPr lang="en-US" dirty="0" err="1">
                  <a:latin typeface="Courier" charset="0"/>
                  <a:ea typeface="Courier" charset="0"/>
                  <a:cs typeface="Courier" charset="0"/>
                </a:rPr>
                <a:t>i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 &lt; </a:t>
              </a:r>
              <a:r>
                <a:rPr lang="en-US" dirty="0" err="1">
                  <a:latin typeface="Courier" charset="0"/>
                  <a:ea typeface="Courier" charset="0"/>
                  <a:cs typeface="Courier" charset="0"/>
                </a:rPr>
                <a:t>arr.size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(); </a:t>
              </a:r>
              <a:r>
                <a:rPr lang="en-US" dirty="0" err="1">
                  <a:latin typeface="Courier" charset="0"/>
                  <a:ea typeface="Courier" charset="0"/>
                  <a:cs typeface="Courier" charset="0"/>
                </a:rPr>
                <a:t>i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++)</a:t>
              </a:r>
            </a:p>
            <a:p>
              <a:pPr marL="40640" indent="0">
                <a:buNone/>
              </a:pP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		</a:t>
              </a:r>
              <a:r>
                <a:rPr lang="en-US" dirty="0">
                  <a:solidFill>
                    <a:srgbClr val="0070C0"/>
                  </a:solidFill>
                  <a:latin typeface="Courier" charset="0"/>
                  <a:ea typeface="Courier" charset="0"/>
                  <a:cs typeface="Courier" charset="0"/>
                </a:rPr>
                <a:t>if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 (</a:t>
              </a:r>
              <a:r>
                <a:rPr lang="en-US" dirty="0" err="1">
                  <a:latin typeface="Courier" charset="0"/>
                  <a:ea typeface="Courier" charset="0"/>
                  <a:cs typeface="Courier" charset="0"/>
                </a:rPr>
                <a:t>arr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[</a:t>
              </a:r>
              <a:r>
                <a:rPr lang="en-US" dirty="0" err="1">
                  <a:latin typeface="Courier" charset="0"/>
                  <a:ea typeface="Courier" charset="0"/>
                  <a:cs typeface="Courier" charset="0"/>
                </a:rPr>
                <a:t>i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] == q)</a:t>
              </a:r>
            </a:p>
            <a:p>
              <a:pPr marL="40640" indent="0">
                <a:buNone/>
              </a:pP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			</a:t>
              </a:r>
              <a:r>
                <a:rPr lang="en-US" dirty="0">
                  <a:solidFill>
                    <a:srgbClr val="0070C0"/>
                  </a:solidFill>
                  <a:latin typeface="Courier" charset="0"/>
                  <a:ea typeface="Courier" charset="0"/>
                  <a:cs typeface="Courier" charset="0"/>
                </a:rPr>
                <a:t>return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 </a:t>
              </a:r>
              <a:r>
                <a:rPr lang="en-US" dirty="0" err="1">
                  <a:latin typeface="Courier" charset="0"/>
                  <a:ea typeface="Courier" charset="0"/>
                  <a:cs typeface="Courier" charset="0"/>
                </a:rPr>
                <a:t>i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;</a:t>
              </a:r>
            </a:p>
            <a:p>
              <a:pPr marL="40640" indent="0">
                <a:buNone/>
              </a:pP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	</a:t>
              </a:r>
              <a:r>
                <a:rPr lang="en-US" dirty="0">
                  <a:solidFill>
                    <a:srgbClr val="0070C0"/>
                  </a:solidFill>
                  <a:latin typeface="Courier" charset="0"/>
                  <a:ea typeface="Courier" charset="0"/>
                  <a:cs typeface="Courier" charset="0"/>
                </a:rPr>
                <a:t>return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 </a:t>
              </a:r>
              <a:r>
                <a:rPr lang="en-US" dirty="0">
                  <a:solidFill>
                    <a:srgbClr val="FF0000"/>
                  </a:solidFill>
                  <a:latin typeface="Courier" charset="0"/>
                  <a:ea typeface="Courier" charset="0"/>
                  <a:cs typeface="Courier" charset="0"/>
                </a:rPr>
                <a:t>-1</a:t>
              </a: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;</a:t>
              </a:r>
            </a:p>
            <a:p>
              <a:pPr marL="40640" indent="0">
                <a:buNone/>
              </a:pPr>
              <a:r>
                <a:rPr lang="en-US" dirty="0">
                  <a:latin typeface="Courier" charset="0"/>
                  <a:ea typeface="Courier" charset="0"/>
                  <a:cs typeface="Courier" charset="0"/>
                </a:rPr>
                <a:t>}</a:t>
              </a:r>
              <a:endParaRPr lang="en-CA" dirty="0">
                <a:latin typeface="Courier" charset="0"/>
                <a:ea typeface="Courier" charset="0"/>
                <a:cs typeface="Courier" charset="0"/>
              </a:endParaRP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CCDFA6A8-E9FF-604E-92BE-50A878B093BE}"/>
                </a:ext>
              </a:extLst>
            </p:cNvPr>
            <p:cNvSpPr/>
            <p:nvPr/>
          </p:nvSpPr>
          <p:spPr>
            <a:xfrm>
              <a:off x="195072" y="1908048"/>
              <a:ext cx="478536" cy="2363430"/>
            </a:xfrm>
            <a:prstGeom prst="roundRect">
              <a:avLst/>
            </a:prstGeom>
            <a:solidFill>
              <a:schemeClr val="bg1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t">
              <a:spAutoFit/>
            </a:bodyPr>
            <a:lstStyle/>
            <a:p>
              <a:pPr marL="40639" marR="40639" indent="0" algn="r" defTabSz="914400" rtl="0" fontAlgn="auto" latinLnBrk="1" hangingPunct="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Courier" charset="0"/>
                  <a:ea typeface="Courier" charset="0"/>
                  <a:cs typeface="Courier" charset="0"/>
                  <a:sym typeface="Arial"/>
                </a:rPr>
                <a:t>1</a:t>
              </a:r>
            </a:p>
            <a:p>
              <a:pPr marL="40639" marR="40639" indent="0" algn="r" defTabSz="914400" rtl="0" fontAlgn="auto" latinLnBrk="1" hangingPunct="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Courier" charset="0"/>
                  <a:ea typeface="Courier" charset="0"/>
                  <a:cs typeface="Courier" charset="0"/>
                </a:rPr>
                <a:t>2</a:t>
              </a:r>
            </a:p>
            <a:p>
              <a:pPr marL="40639" marR="40639" indent="0" algn="r" defTabSz="914400" rtl="0" fontAlgn="auto" latinLnBrk="1" hangingPunct="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Courier" charset="0"/>
                  <a:ea typeface="Courier" charset="0"/>
                  <a:cs typeface="Courier" charset="0"/>
                  <a:sym typeface="Arial"/>
                </a:rPr>
                <a:t>3</a:t>
              </a:r>
            </a:p>
            <a:p>
              <a:pPr marL="40639" marR="40639" indent="0" algn="r" defTabSz="914400" rtl="0" fontAlgn="auto" latinLnBrk="1" hangingPunct="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Courier" charset="0"/>
                  <a:ea typeface="Courier" charset="0"/>
                  <a:cs typeface="Courier" charset="0"/>
                </a:rPr>
                <a:t>4</a:t>
              </a:r>
            </a:p>
            <a:p>
              <a:pPr marL="40639" marR="40639" indent="0" algn="r" defTabSz="914400" rtl="0" fontAlgn="auto" latinLnBrk="1" hangingPunct="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Courier" charset="0"/>
                  <a:ea typeface="Courier" charset="0"/>
                  <a:cs typeface="Courier" charset="0"/>
                  <a:sym typeface="Arial"/>
                </a:rPr>
                <a:t>5</a:t>
              </a:r>
            </a:p>
            <a:p>
              <a:pPr marL="40639" marR="40639" indent="0" algn="r" defTabSz="914400" rtl="0" fontAlgn="auto" latinLnBrk="1" hangingPunct="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Courier" charset="0"/>
                  <a:ea typeface="Courier" charset="0"/>
                  <a:cs typeface="Courier" charset="0"/>
                </a:rPr>
                <a:t>6</a:t>
              </a:r>
              <a:endParaRPr kumimoji="0" lang="en-US" sz="24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ourier" charset="0"/>
                <a:ea typeface="Courier" charset="0"/>
                <a:cs typeface="Courier" charset="0"/>
                <a:sym typeface="Arial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350520"/>
            <a:ext cx="7772400" cy="1600200"/>
          </a:xfrm>
        </p:spPr>
        <p:txBody>
          <a:bodyPr/>
          <a:lstStyle/>
          <a:p>
            <a:pPr algn="l"/>
            <a:r>
              <a:rPr lang="en-US" dirty="0">
                <a:latin typeface="Abadi MT Condensed Light" charset="0"/>
                <a:ea typeface="Abadi MT Condensed Light" charset="0"/>
                <a:cs typeface="Abadi MT Condensed Light" charset="0"/>
              </a:rPr>
              <a:t>Algorithmic Analysis Discussion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2"/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85800" y="3747222"/>
                <a:ext cx="7772400" cy="2260386"/>
              </a:xfrm>
            </p:spPr>
            <p:txBody>
              <a:bodyPr/>
              <a:lstStyle/>
              <a:p>
                <a:pPr marL="40640" indent="0">
                  <a:buNone/>
                </a:pPr>
                <a:r>
                  <a:rPr lang="en-US" dirty="0">
                    <a:latin typeface="Abadi MT Condensed Light" charset="0"/>
                    <a:ea typeface="Abadi MT Condensed Light" charset="0"/>
                    <a:cs typeface="Abadi MT Condensed Light" charset="0"/>
                  </a:rPr>
                  <a:t>T(n) = ________</a:t>
                </a:r>
              </a:p>
              <a:p>
                <a:pPr marL="40640" indent="0">
                  <a:buNone/>
                </a:pPr>
                <a:r>
                  <a:rPr lang="en-US" dirty="0">
                    <a:latin typeface="Abadi MT Condensed Light" charset="0"/>
                    <a:ea typeface="Abadi MT Condensed Light" charset="0"/>
                    <a:cs typeface="Abadi MT Condensed Light" charset="0"/>
                  </a:rPr>
                  <a:t>Choose which definition we should use for describing worst case running time?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Abadi MT Condensed Light" charset="0"/>
                        <a:cs typeface="Abadi MT Condensed Light" charset="0"/>
                      </a:rPr>
                      <m:t>o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Abadi MT Condensed Light" charset="0"/>
                        <a:cs typeface="Abadi MT Condensed Light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Abadi MT Condensed Light" charset="0"/>
                        <a:cs typeface="Abadi MT Condensed Light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Abadi MT Condensed Light" charset="0"/>
                        <a:cs typeface="Abadi MT Condensed Light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Abadi MT Condensed Light" charset="0"/>
                        <a:cs typeface="Abadi MT Condensed Light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Abadi MT Condensed Light" charset="0"/>
                        <a:cs typeface="Abadi MT Condensed Light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Abadi MT Condensed Light" charset="0"/>
                        <a:cs typeface="Abadi MT Condensed Light" charset="0"/>
                      </a:rPr>
                      <m:t>,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Abadi MT Condensed Light" charset="0"/>
                        <a:cs typeface="Abadi MT Condensed Light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Abadi MT Condensed Light" charset="0"/>
                        <a:cs typeface="Abadi MT Condensed Light" charset="0"/>
                      </a:rPr>
                      <m:t>Ω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Abadi MT Condensed Light" charset="0"/>
                        <a:cs typeface="Abadi MT Condensed Light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ea typeface="Abadi MT Condensed Light" charset="0"/>
                        <a:cs typeface="Abadi MT Condensed Light" charset="0"/>
                      </a:rPr>
                      <m:t>θ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Abadi MT Condensed Light" charset="0"/>
                        <a:cs typeface="Abadi MT Condensed Light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Abadi MT Condensed Light" charset="0"/>
                        <a:cs typeface="Abadi MT Condensed Light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Abadi MT Condensed Light" charset="0"/>
                        <a:cs typeface="Abadi MT Condensed Light" charset="0"/>
                      </a:rPr>
                      <m:t>)</m:t>
                    </m:r>
                  </m:oMath>
                </a14:m>
                <a:endParaRPr lang="en-US" dirty="0">
                  <a:latin typeface="Abadi MT Condensed Light" charset="0"/>
                  <a:ea typeface="Abadi MT Condensed Light" charset="0"/>
                  <a:cs typeface="Abadi MT Condensed Light" charset="0"/>
                </a:endParaRPr>
              </a:p>
            </p:txBody>
          </p:sp>
        </mc:Choice>
        <mc:Fallback xmlns="">
          <p:sp>
            <p:nvSpPr>
              <p:cNvPr id="6" name="Tex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800" y="3747222"/>
                <a:ext cx="7772400" cy="2260386"/>
              </a:xfrm>
              <a:blipFill>
                <a:blip r:embed="rId3"/>
                <a:stretch>
                  <a:fillRect l="-2610" t="-50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3519946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C6E6E9"/>
        </a:solidFill>
        <a:ln w="9525" cap="flat">
          <a:solidFill>
            <a:srgbClr val="000000"/>
          </a:solidFill>
          <a:prstDash val="solid"/>
          <a:round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40639" marR="40639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9525" cap="flat">
          <a:solidFill>
            <a:srgbClr val="000000"/>
          </a:solidFill>
          <a:prstDash val="solid"/>
          <a:round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40639" marR="40639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C6E6E9"/>
        </a:solidFill>
        <a:ln w="9525" cap="flat">
          <a:solidFill>
            <a:srgbClr val="000000"/>
          </a:solidFill>
          <a:prstDash val="solid"/>
          <a:round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40639" marR="40639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9525" cap="flat">
          <a:solidFill>
            <a:srgbClr val="000000"/>
          </a:solidFill>
          <a:prstDash val="solid"/>
          <a:round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40639" marR="40639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57317</TotalTime>
  <Words>1667</Words>
  <Application>Microsoft Macintosh PowerPoint</Application>
  <PresentationFormat>On-screen Show (4:3)</PresentationFormat>
  <Paragraphs>388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Abadi MT Condensed Light</vt:lpstr>
      <vt:lpstr>Arial</vt:lpstr>
      <vt:lpstr>Cambria Math</vt:lpstr>
      <vt:lpstr>Courier</vt:lpstr>
      <vt:lpstr>Helvetica</vt:lpstr>
      <vt:lpstr>Lucida Grande</vt:lpstr>
      <vt:lpstr>Wingdings</vt:lpstr>
      <vt:lpstr>White</vt:lpstr>
      <vt:lpstr>CPSC221</vt:lpstr>
      <vt:lpstr>Introductions:</vt:lpstr>
      <vt:lpstr>All you need to know is on Canvas!</vt:lpstr>
      <vt:lpstr>PowerPoint Presentation</vt:lpstr>
      <vt:lpstr>Today’s announcements:</vt:lpstr>
      <vt:lpstr>What’s this course about?</vt:lpstr>
      <vt:lpstr>PowerPoint Presentation</vt:lpstr>
      <vt:lpstr>PowerPoint Presentation</vt:lpstr>
      <vt:lpstr>Measuring the value of algorithms</vt:lpstr>
      <vt:lpstr>Running times</vt:lpstr>
      <vt:lpstr>Algorithmic Analysis – example 1</vt:lpstr>
      <vt:lpstr>Algorithmic Analysis – running time</vt:lpstr>
      <vt:lpstr>Algorithmic Analysis Discussion</vt:lpstr>
      <vt:lpstr>Algorithmic Analysis Discussion</vt:lpstr>
      <vt:lpstr>Aside on Asymptotics</vt:lpstr>
      <vt:lpstr>Asymptotic definitions</vt:lpstr>
      <vt:lpstr>Algorithmic Analysis Discussion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CS225</dc:title>
  <cp:lastModifiedBy>Harmony Haberman</cp:lastModifiedBy>
  <cp:revision>88</cp:revision>
  <cp:lastPrinted>2020-09-09T06:34:07Z</cp:lastPrinted>
  <dcterms:modified xsi:type="dcterms:W3CDTF">2021-01-11T07:07:41Z</dcterms:modified>
</cp:coreProperties>
</file>